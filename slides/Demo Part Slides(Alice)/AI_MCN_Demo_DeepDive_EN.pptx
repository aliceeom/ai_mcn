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YOUR-STREAMLIT-APP-URL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3865"/>
                </a:solidFill>
                <a:latin typeface="Aptos Display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6076"/>
                </a:solidFill>
                <a:latin typeface="Aptos"/>
              </a:defRPr>
            </a:pPr>
            <a:r>
              <a:t>Click to launch the Streamlit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4752"/>
            <a:ext cx="3200400" cy="73152"/>
          </a:xfrm>
          <a:prstGeom prst="rect">
            <a:avLst/>
          </a:prstGeom>
          <a:solidFill>
            <a:srgbClr val="23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57400"/>
            <a:ext cx="10332720" cy="1051560"/>
          </a:xfrm>
          <a:prstGeom prst="roundRect">
            <a:avLst/>
          </a:prstGeom>
          <a:solidFill>
            <a:srgbClr val="E1F1FF"/>
          </a:solidFill>
          <a:ln w="20320">
            <a:solidFill>
              <a:srgbClr val="237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13865"/>
                </a:solidFill>
                <a:latin typeface="Aptos"/>
              </a:defRPr>
            </a:pPr>
            <a:r>
              <a:rPr>
                <a:hlinkClick r:id="rId2"/>
              </a:rPr>
              <a:t>Open AI-MCN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429000"/>
            <a:ext cx="10972800" cy="246888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3538728"/>
            <a:ext cx="107167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What I will do in 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886200"/>
            <a:ext cx="1071676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C2D46"/>
                </a:solidFill>
                <a:latin typeface="Aptos"/>
              </a:defRPr>
            </a:pPr>
            <a:r>
              <a:t>Explain every tab from input to export.</a:t>
            </a:r>
          </a:p>
          <a:p>
            <a:pPr>
              <a:spcAft>
                <a:spcPts val="500"/>
              </a:spcAft>
              <a:defRPr sz="1400">
                <a:solidFill>
                  <a:srgbClr val="1C2D46"/>
                </a:solidFill>
                <a:latin typeface="Aptos"/>
              </a:defRPr>
            </a:pPr>
            <a:r>
              <a:t>Define each important metric in business language.</a:t>
            </a:r>
          </a:p>
          <a:p>
            <a:pPr>
              <a:spcAft>
                <a:spcPts val="500"/>
              </a:spcAft>
              <a:defRPr sz="1400">
                <a:solidFill>
                  <a:srgbClr val="1C2D46"/>
                </a:solidFill>
                <a:latin typeface="Aptos"/>
              </a:defRPr>
            </a:pPr>
            <a:r>
              <a:t>Then return to slides for BOJ action plan and beauty-industry insights.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8869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8096"/>
                </a:solidFill>
                <a:latin typeface="Aptos"/>
              </a:defRPr>
            </a:pPr>
            <a:r>
              <a:t>Source: AI-MCN Streamlit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64008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07E92"/>
                </a:solidFill>
                <a:latin typeface="Aptos"/>
              </a:defRPr>
            </a:pPr>
            <a: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3865"/>
                </a:solidFill>
                <a:latin typeface="Aptos Display"/>
              </a:defRPr>
            </a:pPr>
            <a:r>
              <a:t>Live Demo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6076"/>
                </a:solidFill>
                <a:latin typeface="Aptos"/>
              </a:defRPr>
            </a:pPr>
            <a:r>
              <a:t>All tabs will be explained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4752"/>
            <a:ext cx="3200400" cy="73152"/>
          </a:xfrm>
          <a:prstGeom prst="rect">
            <a:avLst/>
          </a:prstGeom>
          <a:solidFill>
            <a:srgbClr val="23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C2D46"/>
                </a:solidFill>
                <a:latin typeface="Aptos"/>
              </a:defRPr>
            </a:pPr>
            <a:r>
              <a:t>1) Campaign Input</a:t>
            </a:r>
          </a:p>
          <a:p>
            <a:pPr>
              <a:spcAft>
                <a:spcPts val="500"/>
              </a:spcAft>
              <a:defRPr sz="1800">
                <a:solidFill>
                  <a:srgbClr val="1C2D46"/>
                </a:solidFill>
                <a:latin typeface="Aptos"/>
              </a:defRPr>
            </a:pPr>
            <a:r>
              <a:t>2) Overview</a:t>
            </a:r>
          </a:p>
          <a:p>
            <a:pPr>
              <a:spcAft>
                <a:spcPts val="500"/>
              </a:spcAft>
              <a:defRPr sz="1800">
                <a:solidFill>
                  <a:srgbClr val="1C2D46"/>
                </a:solidFill>
                <a:latin typeface="Aptos"/>
              </a:defRPr>
            </a:pPr>
            <a:r>
              <a:t>3) Top Matches</a:t>
            </a:r>
          </a:p>
          <a:p>
            <a:pPr>
              <a:spcAft>
                <a:spcPts val="500"/>
              </a:spcAft>
              <a:defRPr sz="1800">
                <a:solidFill>
                  <a:srgbClr val="1C2D46"/>
                </a:solidFill>
                <a:latin typeface="Aptos"/>
              </a:defRPr>
            </a:pPr>
            <a:r>
              <a:t>4) Network Studio</a:t>
            </a:r>
          </a:p>
          <a:p>
            <a:pPr>
              <a:spcAft>
                <a:spcPts val="500"/>
              </a:spcAft>
              <a:defRPr sz="1800">
                <a:solidFill>
                  <a:srgbClr val="1C2D46"/>
                </a:solidFill>
                <a:latin typeface="Aptos"/>
              </a:defRPr>
            </a:pPr>
            <a:r>
              <a:t>5) Text Intelligence</a:t>
            </a:r>
          </a:p>
          <a:p>
            <a:pPr>
              <a:spcAft>
                <a:spcPts val="500"/>
              </a:spcAft>
              <a:defRPr sz="1800">
                <a:solidFill>
                  <a:srgbClr val="1C2D46"/>
                </a:solidFill>
                <a:latin typeface="Aptos"/>
              </a:defRPr>
            </a:pPr>
            <a:r>
              <a:t>6) ML Studio</a:t>
            </a:r>
          </a:p>
          <a:p>
            <a:pPr>
              <a:spcAft>
                <a:spcPts val="500"/>
              </a:spcAft>
              <a:defRPr sz="1800">
                <a:solidFill>
                  <a:srgbClr val="1C2D46"/>
                </a:solidFill>
                <a:latin typeface="Aptos"/>
              </a:defRPr>
            </a:pPr>
            <a:r>
              <a:t>7) ROI Lab</a:t>
            </a:r>
          </a:p>
          <a:p>
            <a:pPr>
              <a:spcAft>
                <a:spcPts val="500"/>
              </a:spcAft>
              <a:defRPr sz="1800">
                <a:solidFill>
                  <a:srgbClr val="1C2D46"/>
                </a:solidFill>
                <a:latin typeface="Aptos"/>
              </a:defRPr>
            </a:pPr>
            <a:r>
              <a:t>8) Content Strategy</a:t>
            </a:r>
          </a:p>
          <a:p>
            <a:pPr>
              <a:spcAft>
                <a:spcPts val="500"/>
              </a:spcAft>
              <a:defRPr sz="1800">
                <a:solidFill>
                  <a:srgbClr val="1C2D46"/>
                </a:solidFill>
                <a:latin typeface="Aptos"/>
              </a:defRPr>
            </a:pPr>
            <a:r>
              <a:t>9) Executive Memo / Glossary / Export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83080"/>
            <a:ext cx="4983480" cy="448056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47104" y="1892807"/>
            <a:ext cx="47274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Audience should watch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47104" y="2240280"/>
            <a:ext cx="47274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How score is built and controlled.</a:t>
            </a:r>
          </a:p>
          <a:p>
            <a:pPr>
              <a:spcAft>
                <a:spcPts val="5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How reliability changes shortlist quality.</a:t>
            </a:r>
          </a:p>
          <a:p>
            <a:pPr>
              <a:spcAft>
                <a:spcPts val="5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How content + ROI decisions are connected.</a:t>
            </a:r>
          </a:p>
          <a:p>
            <a:pPr>
              <a:spcAft>
                <a:spcPts val="500"/>
              </a:spcAft>
              <a:defRPr sz="1500">
                <a:solidFill>
                  <a:srgbClr val="1C2D46"/>
                </a:solidFill>
                <a:latin typeface="Aptos"/>
              </a:defRPr>
            </a:pPr>
            <a:r>
              <a:t>How BOJ can act immediately after this run.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8869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8096"/>
                </a:solidFill>
                <a:latin typeface="Aptos"/>
              </a:defRPr>
            </a:pPr>
            <a:r>
              <a:t>Source: AI_MCN_Demo_DeepDive_Script_EN.md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64008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07E92"/>
                </a:solidFill>
                <a:latin typeface="Aptos"/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3865"/>
                </a:solidFill>
                <a:latin typeface="Aptos Display"/>
              </a:defRPr>
            </a:pPr>
            <a:r>
              <a:t>Live Demo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6076"/>
                </a:solidFill>
                <a:latin typeface="Aptos"/>
              </a:defRPr>
            </a:pPr>
            <a:r>
              <a:t>What each tab must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44752"/>
            <a:ext cx="3200400" cy="73152"/>
          </a:xfrm>
          <a:prstGeom prst="rect">
            <a:avLst/>
          </a:prstGeom>
          <a:solidFill>
            <a:srgbClr val="23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783080"/>
            <a:ext cx="5440680" cy="448056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892807"/>
            <a:ext cx="5184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Decision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240280"/>
            <a:ext cx="51846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Who should BOJ contact first?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Why are those creators recommended?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How much evidence supports each recommendation?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What budget plan is realistic?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What content format should each creator publish?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5440680" cy="448056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892807"/>
            <a:ext cx="5184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Metric meanings to explain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504" y="2240280"/>
            <a:ext cx="51846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Final Score = suitability after reliability adjustment.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Evidence Score = scale/activity/interaction support.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Community ID = network cluster label.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TF-IDF/Semantic/Tone = message-fit signals.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ROAS range = planning scenario band.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8869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8096"/>
                </a:solidFill>
                <a:latin typeface="Aptos"/>
              </a:defRPr>
            </a:pPr>
            <a:r>
              <a:t>Source: Top Matches + Network + Text + ROI tabs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64008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07E92"/>
                </a:solidFill>
                <a:latin typeface="Aptos"/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3865"/>
                </a:solidFill>
                <a:latin typeface="Aptos Display"/>
              </a:defRPr>
            </a:pPr>
            <a:r>
              <a:t>BOJ Context: Why This Client Case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44752"/>
            <a:ext cx="3200400" cy="73152"/>
          </a:xfrm>
          <a:prstGeom prst="rect">
            <a:avLst/>
          </a:prstGeom>
          <a:solidFill>
            <a:srgbClr val="23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1783080"/>
            <a:ext cx="5440680" cy="448056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92807"/>
            <a:ext cx="5184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Business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240280"/>
            <a:ext cx="51846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BOJ is a K-beauty brand expanding in global skincare markets.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Demo product: Relief Sun SPF + Glow Serum.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Campaign problem: find creators with both relevance and purchase intent.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Operational pain: manual creator screening is slow and inconsistent.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5440680" cy="448056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892807"/>
            <a:ext cx="5184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Why this case is strong for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2240280"/>
            <a:ext cx="51846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Clear product story and clear target audience.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Keyword-rich skincare category for text-fit diagnostics.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High sensitivity to creator-message alignment quality.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Realistic benchmark comparison in U.S. skincare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8869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8096"/>
                </a:solidFill>
                <a:latin typeface="Aptos"/>
              </a:defRPr>
            </a:pPr>
            <a:r>
              <a:t>Source: NIQ 2025 K-beauty report + BOJ U.S. strategy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64008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07E92"/>
                </a:solidFill>
                <a:latin typeface="Aptos"/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3865"/>
                </a:solidFill>
                <a:latin typeface="Aptos Display"/>
              </a:defRPr>
            </a:pPr>
            <a:r>
              <a:t>BOJ Run Facts (Actual App Output)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44752"/>
            <a:ext cx="3200400" cy="73152"/>
          </a:xfrm>
          <a:prstGeom prst="rect">
            <a:avLst/>
          </a:prstGeom>
          <a:solidFill>
            <a:srgbClr val="23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1783080"/>
            <a:ext cx="5440680" cy="448056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92807"/>
            <a:ext cx="5184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Core run stats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240280"/>
            <a:ext cx="51846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Videos analyzed: 42,750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Channels scored: 1,089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Best ML model: LightGBM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Top-10 mean final score: 0.307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Top-10 mean evidence score: 0.702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Top-10 community coverage: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5440680" cy="448056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892807"/>
            <a:ext cx="5184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Benchmark + ROI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2240280"/>
            <a:ext cx="51846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Reference brand: CeraVe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Reference top channel: Dr. Usama Syed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BOJ Top-N mean: 0.307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CeraVe Top-N mean: 0.260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Gap (BOJ - benchmark): +0.047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ROI baseline: 1.14x (range 0.80x-1.48x)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8869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8096"/>
                </a:solidFill>
                <a:latin typeface="Aptos"/>
              </a:defRPr>
            </a:pPr>
            <a:r>
              <a:t>Source: presentation_summary_boj.json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64008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07E92"/>
                </a:solidFill>
                <a:latin typeface="Aptos"/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3865"/>
                </a:solidFill>
                <a:latin typeface="Aptos Display"/>
              </a:defRPr>
            </a:pPr>
            <a:r>
              <a:t>BOJ Top-10 Recommended Influencers (Actual Output)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44752"/>
            <a:ext cx="3200400" cy="73152"/>
          </a:xfrm>
          <a:prstGeom prst="rect">
            <a:avLst/>
          </a:prstGeom>
          <a:solidFill>
            <a:srgbClr val="23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1783080"/>
            <a:ext cx="5440680" cy="448056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92807"/>
            <a:ext cx="5184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Top-10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240280"/>
            <a:ext cx="51846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#1 Robert Welsh (0.394)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#2 Tati (0.327)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#3 Beauty Within (0.324)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#4 STEPHANIE TOMS (0.318)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#5 MrsMelissaM (0.307)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#6 Dr Alexis Stephens (0.307)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#7 Mad About Skin (0.283)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#8 Just Beauty by Julie P - makeup, beauty reviews (0.273)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#9 James Welsh (0.270)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#10 Morgan Turner (0.270)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5440680" cy="448056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892807"/>
            <a:ext cx="5184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Role split 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2240280"/>
            <a:ext cx="51846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Scale/Awareness: Robert Welsh, Tati, Beauty Within, James Welsh, Morgan Turner</a:t>
            </a:r>
          </a:p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Conversion/Fit: STEPHANIE TOMS, Mad About Skin</a:t>
            </a:r>
          </a:p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Education/Support: MrsMelissaM, Dr Alexis Stephens, Just Beauty by Julie P - makeup, beauty reviews</a:t>
            </a:r>
          </a:p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Use different creative objective by role, not one message for all creators.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8869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8096"/>
                </a:solidFill>
                <a:latin typeface="Aptos"/>
              </a:defRPr>
            </a:pPr>
            <a:r>
              <a:t>Source: top10_beauty_of_joseon.csv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64008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07E92"/>
                </a:solidFill>
                <a:latin typeface="Aptos"/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3865"/>
                </a:solidFill>
                <a:latin typeface="Aptos Display"/>
              </a:defRPr>
            </a:pPr>
            <a:r>
              <a:t>Representative Deep Dive: #1 Robert Welsh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44752"/>
            <a:ext cx="3200400" cy="73152"/>
          </a:xfrm>
          <a:prstGeom prst="rect">
            <a:avLst/>
          </a:prstGeom>
          <a:solidFill>
            <a:srgbClr val="23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1783080"/>
            <a:ext cx="5440680" cy="448056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92807"/>
            <a:ext cx="5184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Channel profile (from current output)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240280"/>
            <a:ext cx="51846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Final score: 0.394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Evidence score: 0.743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TF-IDF: 0.311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SNA: 1.000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n_videos used: 22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Median views: 39,296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Recent publish: 2026-02-24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5440680" cy="448056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892807"/>
            <a:ext cx="5184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Business interpretation + content 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2240280"/>
            <a:ext cx="51846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Why useful for BOJ:</a:t>
            </a:r>
          </a:p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Very strong skincare-language match to campaign intent.</a:t>
            </a:r>
          </a:p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Good context for sensitive-skin sunscreen storytelling.</a:t>
            </a:r>
          </a:p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Role in this run: Awareness-focused</a:t>
            </a:r>
          </a:p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Recommended content package:</a:t>
            </a:r>
          </a:p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Primary: Concept 1 (Daily Routine)</a:t>
            </a:r>
          </a:p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Backup: Concept 3 (Q&amp;A Conversion Hook)</a:t>
            </a:r>
          </a:p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Product angle: lightweight daily SPF for sensitive/acne-prone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8869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8096"/>
                </a:solidFill>
                <a:latin typeface="Aptos"/>
              </a:defRPr>
            </a:pPr>
            <a:r>
              <a:t>Source: top10_beauty_of_joseon.csv (row #1)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64008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07E92"/>
                </a:solidFill>
                <a:latin typeface="Aptos"/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3865"/>
                </a:solidFill>
                <a:latin typeface="Aptos Display"/>
              </a:defRPr>
            </a:pPr>
            <a:r>
              <a:t>BOJ Channel-to-Content Strategy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44752"/>
            <a:ext cx="3200400" cy="73152"/>
          </a:xfrm>
          <a:prstGeom prst="rect">
            <a:avLst/>
          </a:prstGeom>
          <a:solidFill>
            <a:srgbClr val="23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1783080"/>
            <a:ext cx="5440680" cy="448056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92807"/>
            <a:ext cx="5184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Top-10 concept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240280"/>
            <a:ext cx="51846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Concept 1 (Daily Routine): Robert Welsh, Tati, Beauty Within, James Welsh, Morgan Turner</a:t>
            </a:r>
          </a:p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Concept 2 (Results Comparison): STEPHANIE TOMS, Mad About Skin</a:t>
            </a:r>
          </a:p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Concept 3 (Q&amp;A Hook): MrsMelissaM, Dr Alexis Stephens, Just Beauty by Julie P - makeup, beauty reviews</a:t>
            </a:r>
          </a:p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Assign creator objective before budget allocation.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5440680" cy="448056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892807"/>
            <a:ext cx="5184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4-week execution cadence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2240280"/>
            <a:ext cx="51846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Week 1: Awareness launch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Week 2: Education + routine detail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Week 3: Product proof/comparison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Week 4: Conversion CTA + recap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Then re-rank with weekly KPI 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8869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8096"/>
                </a:solidFill>
                <a:latin typeface="Aptos"/>
              </a:defRPr>
            </a:pPr>
            <a:r>
              <a:t>Source: Content Strategy tab + memo campaign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64008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07E92"/>
                </a:solidFill>
                <a:latin typeface="Aptos"/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3865"/>
                </a:solidFill>
                <a:latin typeface="Aptos Display"/>
              </a:defRPr>
            </a:pPr>
            <a:r>
              <a:t>BOJ Budget Allocation Scenario (Current Run)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44752"/>
            <a:ext cx="3200400" cy="73152"/>
          </a:xfrm>
          <a:prstGeom prst="rect">
            <a:avLst/>
          </a:prstGeom>
          <a:solidFill>
            <a:srgbClr val="23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1783080"/>
            <a:ext cx="5440680" cy="448056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92807"/>
            <a:ext cx="5184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Example allocation 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240280"/>
            <a:ext cx="51846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Robert Welsh: Budget $5,674 | Conv~170 | Revenue~$6,465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Tati: Budget $5,651 | Conv~169 | Revenue~$6,438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Beauty Within: Budget $5,222 | Conv~157 | Revenue~$5,949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James Welsh: Budget $5,136 | Conv~154 | Revenue~$5,851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Dr Alexis Stephens: Budget $4,984 | Conv~149 | Revenue~$5,678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5440680" cy="448056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892807"/>
            <a:ext cx="5184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Assumption + 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2240280"/>
            <a:ext cx="51846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Allocation weight = 55% final score + 25% evidence + 20% reach index</a:t>
            </a:r>
          </a:p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Scenario budget total: $49,999</a:t>
            </a:r>
          </a:p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Scenario conversions total: 1,498</a:t>
            </a:r>
          </a:p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Scenario revenue total: $56,963</a:t>
            </a:r>
          </a:p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Reach-heavy creators support awareness speed.</a:t>
            </a:r>
          </a:p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Fit-heavy creators support conversion quality.</a:t>
            </a:r>
          </a:p>
        </p:txBody>
      </p:sp>
      <p:pic>
        <p:nvPicPr>
          <p:cNvPr id="10" name="Picture 9" descr="roi_funnel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663440"/>
            <a:ext cx="3291840" cy="18329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400800"/>
            <a:ext cx="8869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8096"/>
                </a:solidFill>
                <a:latin typeface="Aptos"/>
              </a:defRPr>
            </a:pPr>
            <a:r>
              <a:t>Source: presentation_summary_boj.json + derived allocation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64008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07E92"/>
                </a:solidFill>
                <a:latin typeface="Aptos"/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3865"/>
                </a:solidFill>
                <a:latin typeface="Aptos Display"/>
              </a:defRPr>
            </a:pPr>
            <a:r>
              <a:t>Analysis-to-Action Framework for BOJ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44752"/>
            <a:ext cx="3200400" cy="73152"/>
          </a:xfrm>
          <a:prstGeom prst="rect">
            <a:avLst/>
          </a:prstGeom>
          <a:solidFill>
            <a:srgbClr val="23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1783080"/>
            <a:ext cx="5440680" cy="448056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92807"/>
            <a:ext cx="5184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From analysis to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240280"/>
            <a:ext cx="51846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C2D46"/>
                </a:solidFill>
                <a:latin typeface="Aptos"/>
              </a:defRPr>
            </a:pPr>
            <a:r>
              <a:t>Top Matches: use as shortlist, not final spend decision alone.</a:t>
            </a:r>
          </a:p>
          <a:p>
            <a:pPr>
              <a:spcAft>
                <a:spcPts val="500"/>
              </a:spcAft>
              <a:defRPr sz="1000">
                <a:solidFill>
                  <a:srgbClr val="1C2D46"/>
                </a:solidFill>
                <a:latin typeface="Aptos"/>
              </a:defRPr>
            </a:pPr>
            <a:r>
              <a:t>Evidence/Multiplier: core spend only above evidence threshold.</a:t>
            </a:r>
          </a:p>
          <a:p>
            <a:pPr>
              <a:spcAft>
                <a:spcPts val="500"/>
              </a:spcAft>
              <a:defRPr sz="1000">
                <a:solidFill>
                  <a:srgbClr val="1C2D46"/>
                </a:solidFill>
                <a:latin typeface="Aptos"/>
              </a:defRPr>
            </a:pPr>
            <a:r>
              <a:t>Text Intelligence: conversion creatives only for high fit channels.</a:t>
            </a:r>
          </a:p>
          <a:p>
            <a:pPr>
              <a:spcAft>
                <a:spcPts val="500"/>
              </a:spcAft>
              <a:defRPr sz="1000">
                <a:solidFill>
                  <a:srgbClr val="1C2D46"/>
                </a:solidFill>
                <a:latin typeface="Aptos"/>
              </a:defRPr>
            </a:pPr>
            <a:r>
              <a:t>Network Studio: enforce community diversity in active spend.</a:t>
            </a:r>
          </a:p>
          <a:p>
            <a:pPr>
              <a:spcAft>
                <a:spcPts val="500"/>
              </a:spcAft>
              <a:defRPr sz="1000">
                <a:solidFill>
                  <a:srgbClr val="1C2D46"/>
                </a:solidFill>
                <a:latin typeface="Aptos"/>
              </a:defRPr>
            </a:pPr>
            <a:r>
              <a:t>ML Studio: validate score stability before large reallocations.</a:t>
            </a:r>
          </a:p>
          <a:p>
            <a:pPr>
              <a:spcAft>
                <a:spcPts val="500"/>
              </a:spcAft>
              <a:defRPr sz="1000">
                <a:solidFill>
                  <a:srgbClr val="1C2D46"/>
                </a:solidFill>
                <a:latin typeface="Aptos"/>
              </a:defRPr>
            </a:pPr>
            <a:r>
              <a:t>ROI Lab: use scenario ranges for budget approval.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5440680" cy="448056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892807"/>
            <a:ext cx="5184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Practical 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2240280"/>
            <a:ext cx="51846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Do not allocate budget by rank only.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Apply pilot cap to low-activity channels.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Review KPI weekly and rerank creators.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Track model rationale and risk flags in exports.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8869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8096"/>
                </a:solidFill>
                <a:latin typeface="Aptos"/>
              </a:defRPr>
            </a:pPr>
            <a:r>
              <a:t>Source: Top Matches + Network + Text + ML + ROI tabs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64008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07E92"/>
                </a:solidFill>
                <a:latin typeface="Aptos"/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3865"/>
                </a:solidFill>
                <a:latin typeface="Aptos Display"/>
              </a:defRPr>
            </a:pPr>
            <a:r>
              <a:t>BOJ 30-60-90 Day Operating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44752"/>
            <a:ext cx="3200400" cy="73152"/>
          </a:xfrm>
          <a:prstGeom prst="rect">
            <a:avLst/>
          </a:prstGeom>
          <a:solidFill>
            <a:srgbClr val="23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1783080"/>
            <a:ext cx="5440680" cy="448056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92807"/>
            <a:ext cx="5184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0-30 / 31-60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240280"/>
            <a:ext cx="51846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0-30: Launch Top-10 with tiered budget and clean tracking links.</a:t>
            </a:r>
          </a:p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0-30: Use 3 lead creators + 4 support creators + 3 pilots.</a:t>
            </a:r>
          </a:p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31-60: Re-rank using CTR/CVR/ROAS.</a:t>
            </a:r>
          </a:p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31-60: Shift budget from weak pilots to strongest converters.</a:t>
            </a:r>
          </a:p>
          <a:p>
            <a:pPr>
              <a:spcAft>
                <a:spcPts val="500"/>
              </a:spcAft>
              <a:defRPr sz="1100">
                <a:solidFill>
                  <a:srgbClr val="1C2D46"/>
                </a:solidFill>
                <a:latin typeface="Aptos"/>
              </a:defRPr>
            </a:pPr>
            <a:r>
              <a:t>31-60: Update include/exclude keywords from comment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5440680" cy="448056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892807"/>
            <a:ext cx="5184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61-90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2240280"/>
            <a:ext cx="51846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Build BOJ creator playbook by audience sub-segment.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Segment examples: sensitive skin / acne-prone / lightweight SPF seekers.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Run monthly benchmark vs competitor profile.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Keep export-based audit trail for every campaign cycle.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8869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8096"/>
                </a:solidFill>
                <a:latin typeface="Aptos"/>
              </a:defRPr>
            </a:pPr>
            <a:r>
              <a:t>Source: Execution plan derived from BOJ run 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64008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07E92"/>
                </a:solidFill>
                <a:latin typeface="Aptos"/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3865"/>
                </a:solidFill>
                <a:latin typeface="Aptos Display"/>
              </a:defRPr>
            </a:pPr>
            <a:r>
              <a:t>BOJ KPI Governance (Weekly)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44752"/>
            <a:ext cx="3200400" cy="73152"/>
          </a:xfrm>
          <a:prstGeom prst="rect">
            <a:avLst/>
          </a:prstGeom>
          <a:solidFill>
            <a:srgbClr val="23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1783080"/>
            <a:ext cx="5440680" cy="448056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92807"/>
            <a:ext cx="5184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Core KPI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240280"/>
            <a:ext cx="51846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C2D46"/>
                </a:solidFill>
                <a:latin typeface="Aptos"/>
              </a:defRPr>
            </a:pPr>
            <a:r>
              <a:t>CTR</a:t>
            </a:r>
          </a:p>
          <a:p>
            <a:pPr>
              <a:spcAft>
                <a:spcPts val="500"/>
              </a:spcAft>
              <a:defRPr sz="1400">
                <a:solidFill>
                  <a:srgbClr val="1C2D46"/>
                </a:solidFill>
                <a:latin typeface="Aptos"/>
              </a:defRPr>
            </a:pPr>
            <a:r>
              <a:t>CVR</a:t>
            </a:r>
          </a:p>
          <a:p>
            <a:pPr>
              <a:spcAft>
                <a:spcPts val="500"/>
              </a:spcAft>
              <a:defRPr sz="1400">
                <a:solidFill>
                  <a:srgbClr val="1C2D46"/>
                </a:solidFill>
                <a:latin typeface="Aptos"/>
              </a:defRPr>
            </a:pPr>
            <a:r>
              <a:t>ROAS</a:t>
            </a:r>
          </a:p>
          <a:p>
            <a:pPr>
              <a:spcAft>
                <a:spcPts val="500"/>
              </a:spcAft>
              <a:defRPr sz="1400">
                <a:solidFill>
                  <a:srgbClr val="1C2D46"/>
                </a:solidFill>
                <a:latin typeface="Aptos"/>
              </a:defRPr>
            </a:pPr>
            <a:r>
              <a:t>Branded search lift</a:t>
            </a:r>
          </a:p>
          <a:p>
            <a:pPr>
              <a:spcAft>
                <a:spcPts val="500"/>
              </a:spcAft>
              <a:defRPr sz="1400">
                <a:solidFill>
                  <a:srgbClr val="1C2D46"/>
                </a:solidFill>
                <a:latin typeface="Aptos"/>
              </a:defRPr>
            </a:pPr>
            <a:r>
              <a:t>Comment quality and repeated objections</a:t>
            </a:r>
          </a:p>
          <a:p>
            <a:pPr>
              <a:spcAft>
                <a:spcPts val="500"/>
              </a:spcAft>
              <a:defRPr sz="1400">
                <a:solidFill>
                  <a:srgbClr val="1C2D46"/>
                </a:solidFill>
                <a:latin typeface="Aptos"/>
              </a:defRPr>
            </a:pPr>
            <a:r>
              <a:t>Community concentration ratio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5440680" cy="448056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892807"/>
            <a:ext cx="5184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Decision rule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2240280"/>
            <a:ext cx="51846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Increase: above-target CVR + stable evidence.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Hold/test: mixed performance but strategic niche relevance.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Reduce/exit: weak CVR + low evidence + off-message signals.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Re-run ranking after every major budget shift.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8869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8096"/>
                </a:solidFill>
                <a:latin typeface="Aptos"/>
              </a:defRPr>
            </a:pPr>
            <a:r>
              <a:t>Source: ROI + Text + Bias diagnostics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64008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07E92"/>
                </a:solidFill>
                <a:latin typeface="Aptos"/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3865"/>
                </a:solidFill>
                <a:latin typeface="Aptos Display"/>
              </a:defRPr>
            </a:pPr>
            <a:r>
              <a:t>Beauty Industry Insight #1 (from this run)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44752"/>
            <a:ext cx="3200400" cy="73152"/>
          </a:xfrm>
          <a:prstGeom prst="rect">
            <a:avLst/>
          </a:prstGeom>
          <a:solidFill>
            <a:srgbClr val="23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1783080"/>
            <a:ext cx="5440680" cy="448056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92807"/>
            <a:ext cx="5184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Observed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240280"/>
            <a:ext cx="51846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High reach and high semantic fit are often different creators.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Single flat top-list design can waste spend.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Role-split creator portfolio performs better operationally.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5440680" cy="448056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892807"/>
            <a:ext cx="5184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Recommended portfolio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2240280"/>
            <a:ext cx="51846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Awareness track (reach-driven)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Conversion track (fit/evidence-driven)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Controlled test track (small pilot budget)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Rebalance across tracks by weekly KPI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8869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8096"/>
                </a:solidFill>
                <a:latin typeface="Aptos"/>
              </a:defRPr>
            </a:pPr>
            <a:r>
              <a:t>Source: BOJ Top-10 signal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64008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07E92"/>
                </a:solidFill>
                <a:latin typeface="Aptos"/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3865"/>
                </a:solidFill>
                <a:latin typeface="Aptos Display"/>
              </a:defRPr>
            </a:pPr>
            <a:r>
              <a:t>Beauty Industry Insight #2: Scalable Operating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44752"/>
            <a:ext cx="3200400" cy="73152"/>
          </a:xfrm>
          <a:prstGeom prst="rect">
            <a:avLst/>
          </a:prstGeom>
          <a:solidFill>
            <a:srgbClr val="23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1783080"/>
            <a:ext cx="5440680" cy="448056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892807"/>
            <a:ext cx="5184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Repeatable campaign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240280"/>
            <a:ext cx="51846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Input brief -&gt; explainable ranking -&gt; strategy mapping -&gt; ROI scenarios -&gt; export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Run this cycle every launch, not as one-off analysis.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Use benchmark panel monthly against competitor profiles.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5440680" cy="4480560"/>
          </a:xfrm>
          <a:prstGeom prst="roundRect">
            <a:avLst/>
          </a:prstGeom>
          <a:solidFill>
            <a:srgbClr val="F4F8FD"/>
          </a:solidFill>
          <a:ln w="14604">
            <a:solidFill>
              <a:srgbClr val="D2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892807"/>
            <a:ext cx="5184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33A66"/>
                </a:solidFill>
                <a:latin typeface="Aptos"/>
              </a:defRPr>
            </a:pPr>
            <a:r>
              <a:t>Governance and audit trail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2240280"/>
            <a:ext cx="518464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Keep rationale text for each selected creator.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Track risk flags and evidence movement over time.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Store exported files for post-campaign review.</a:t>
            </a:r>
          </a:p>
          <a:p>
            <a:pPr>
              <a:spcAft>
                <a:spcPts val="500"/>
              </a:spcAft>
              <a:defRPr sz="1200">
                <a:solidFill>
                  <a:srgbClr val="1C2D46"/>
                </a:solidFill>
                <a:latin typeface="Aptos"/>
              </a:defRPr>
            </a:pPr>
            <a:r>
              <a:t>Standardize framework across skincare/makeup/haircare.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8869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8096"/>
                </a:solidFill>
                <a:latin typeface="Aptos"/>
              </a:defRPr>
            </a:pPr>
            <a:r>
              <a:t>Source: AI-MCN pipeline + export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64008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07E92"/>
                </a:solidFill>
                <a:latin typeface="Aptos"/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13865"/>
                </a:solidFill>
                <a:latin typeface="Aptos Display"/>
              </a:defRPr>
            </a:pPr>
            <a:r>
              <a:t>Closing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44752"/>
            <a:ext cx="3200400" cy="73152"/>
          </a:xfrm>
          <a:prstGeom prst="rect">
            <a:avLst/>
          </a:prstGeom>
          <a:solidFill>
            <a:srgbClr val="23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424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>
                <a:solidFill>
                  <a:srgbClr val="1C2D46"/>
                </a:solidFill>
                <a:latin typeface="Aptos"/>
              </a:defRPr>
            </a:pPr>
            <a:r>
              <a:t>For BOJ, this output is not only a recommendation list; it is an execution plan.</a:t>
            </a:r>
          </a:p>
          <a:p>
            <a:pPr>
              <a:spcAft>
                <a:spcPts val="500"/>
              </a:spcAft>
              <a:defRPr sz="2100">
                <a:solidFill>
                  <a:srgbClr val="1C2D46"/>
                </a:solidFill>
                <a:latin typeface="Aptos"/>
              </a:defRPr>
            </a:pPr>
            <a:r>
              <a:t>For beauty brands, AI-MCN turns influencer marketing into measurable decision operations.</a:t>
            </a:r>
          </a:p>
          <a:p>
            <a:pPr>
              <a:spcAft>
                <a:spcPts val="500"/>
              </a:spcAft>
              <a:defRPr sz="2100">
                <a:solidFill>
                  <a:srgbClr val="1C2D46"/>
                </a:solidFill>
                <a:latin typeface="Aptos"/>
              </a:defRPr>
            </a:pPr>
            <a:r>
              <a:t>This is how we replace manual MCN-style matching with explainable AI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4846320"/>
            <a:ext cx="6400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145794"/>
                </a:solidFill>
                <a:latin typeface="Aptos Display"/>
              </a:defRPr>
            </a:pPr>
            <a:r>
              <a:t>Thank you.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8869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E8096"/>
                </a:solidFill>
                <a:latin typeface="Aptos"/>
              </a:defRPr>
            </a:pPr>
            <a:r>
              <a:t>Source: AI-MCN demo output 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4008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07E92"/>
                </a:solidFill>
                <a:latin typeface="Aptos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