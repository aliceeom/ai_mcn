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liceEom/AI_MCN" TargetMode="External"/><Relationship Id="rId3" Type="http://schemas.openxmlformats.org/officeDocument/2006/relationships/hyperlink" Target="https://www.emarketer.com/press-releases/us-influencer-marketing-spending-will-surpass-10-billion-in-2025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upport.google.com/youtube/answer/106934?hl=en-EN" TargetMode="External"/><Relationship Id="rId3" Type="http://schemas.openxmlformats.org/officeDocument/2006/relationships/hyperlink" Target="https://support.google.com/youtube/answer/7296308?hl=en-GB" TargetMode="External"/><Relationship Id="rId4" Type="http://schemas.openxmlformats.org/officeDocument/2006/relationships/hyperlink" Target="https://www.iab.com/news/creator-economy-ad-spend-to-reach-37-billion-in-2025-growing-4x-faster-than-total-media-industry-according-to-iab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emarketer.com/press-releases/us-influencer-marketing-spending-will-surpass-10-billion-in-2025/" TargetMode="External"/><Relationship Id="rId3" Type="http://schemas.openxmlformats.org/officeDocument/2006/relationships/hyperlink" Target="https://nielseniq.com/global/en/news-center/2025/niq-reports-7-3-year-over-year-value-growth-in-global-beauty-sector/" TargetMode="External"/><Relationship Id="rId4" Type="http://schemas.openxmlformats.org/officeDocument/2006/relationships/hyperlink" Target="https://www.mckinsey.com/industries/consumer-packaged-goods/our-insights/a-close-look-at-the-global-beauty-industry-in-2025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ashionista.com/2024/11/beauty-of-joseon-k-beauty-skin-care-us-launch-strategy" TargetMode="External"/><Relationship Id="rId3" Type="http://schemas.openxmlformats.org/officeDocument/2006/relationships/hyperlink" Target="https://beautyofjoseon.com/pages/rice-wonderland" TargetMode="External"/><Relationship Id="rId4" Type="http://schemas.openxmlformats.org/officeDocument/2006/relationships/hyperlink" Target="https://www.fda.gov/drugs/guidance-compliance-regulatory-information/sunscreen-innovation-act-sia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evelopers.google.com/youtube/v3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cikit-learn.org/stable/modules/generated/sklearn.model_selection.GroupKFold.html" TargetMode="External"/><Relationship Id="rId3" Type="http://schemas.openxmlformats.org/officeDocument/2006/relationships/hyperlink" Target="https://lightgbm.readthedocs.io/en/latest/" TargetMode="External"/><Relationship Id="rId4" Type="http://schemas.openxmlformats.org/officeDocument/2006/relationships/hyperlink" Target="https://shap.readthedocs.io/en/latest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ftc.gov/influencers" TargetMode="External"/><Relationship Id="rId3" Type="http://schemas.openxmlformats.org/officeDocument/2006/relationships/hyperlink" Target="https://www.ftc.gov/business-guidance/resources/ftcs-endorsement-guides" TargetMode="External"/><Relationship Id="rId4" Type="http://schemas.openxmlformats.org/officeDocument/2006/relationships/hyperlink" Target="https://support.google.com/youtube/answer/7296308?hl=en-GB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lightgbm.readthedocs.io/en/latest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docs.streamlit.io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ab.com/news/creator-economy-ad-spend-to-reach-37-billion-in-2025-growing-4x-faster-than-total-media-industry-according-to-iab/" TargetMode="External"/><Relationship Id="rId3" Type="http://schemas.openxmlformats.org/officeDocument/2006/relationships/hyperlink" Target="https://blog.youtube/news-and-events/2024-us-youtube-impact-report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ftc.gov/influencers" TargetMode="External"/><Relationship Id="rId3" Type="http://schemas.openxmlformats.org/officeDocument/2006/relationships/hyperlink" Target="https://www.congress.gov/bill/119th-congress/house-bill/3686" TargetMode="External"/><Relationship Id="rId4" Type="http://schemas.openxmlformats.org/officeDocument/2006/relationships/hyperlink" Target="https://www.fda.gov/drugs/guidance-compliance-regulatory-information/sunscreen-innovation-act-sia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latform.openai.com/docs/overview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emarketer.com/press-releases/us-influencer-marketing-spending-will-surpass-10-billion-in-2025/" TargetMode="External"/><Relationship Id="rId3" Type="http://schemas.openxmlformats.org/officeDocument/2006/relationships/hyperlink" Target="https://nielseniq.com/global/en/news-center/2025/niq-reports-7-3-year-over-year-value-growth-in-global-beauty-sector/" TargetMode="External"/><Relationship Id="rId4" Type="http://schemas.openxmlformats.org/officeDocument/2006/relationships/hyperlink" Target="https://www.mckinsey.com/industries/consumer-packaged-goods/our-insights/a-close-look-at-the-global-beauty-industry-in-2025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AI-MCN: Replacing Traditional MCN Matching with an AI Decision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70432"/>
            <a:ext cx="10789920" cy="621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4A5F80"/>
                </a:solidFill>
                <a:latin typeface="Aptos"/>
              </a:defRPr>
            </a:pPr>
            <a:r>
              <a:t>MSIS 521 Course Project | 15-minute Presentation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01168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300">
                <a:solidFill>
                  <a:srgbClr val="1C2D46"/>
                </a:solidFill>
                <a:latin typeface="Aptos"/>
              </a:defRPr>
            </a:pPr>
            <a:r>
              <a:t>Client case: Beauty of Joseon (BOJ), U.S. sunscreen campaign</a:t>
            </a:r>
          </a:p>
          <a:p>
            <a:pPr>
              <a:spcAft>
                <a:spcPts val="800"/>
              </a:spcAft>
              <a:defRPr sz="2300">
                <a:solidFill>
                  <a:srgbClr val="1C2D46"/>
                </a:solidFill>
                <a:latin typeface="Aptos"/>
              </a:defRPr>
            </a:pPr>
            <a:r>
              <a:t>Goal: help brands find best-fit influencers directly with transparent AI logic</a:t>
            </a:r>
          </a:p>
          <a:p>
            <a:pPr>
              <a:spcAft>
                <a:spcPts val="800"/>
              </a:spcAft>
              <a:defRPr sz="2300">
                <a:solidFill>
                  <a:srgbClr val="1C2D46"/>
                </a:solidFill>
                <a:latin typeface="Aptos"/>
              </a:defRPr>
            </a:pPr>
            <a:r>
              <a:t>Team: [Add names]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 u="sng">
                <a:solidFill>
                  <a:srgbClr val="1A7DBC"/>
                </a:solidFill>
                <a:latin typeface="Aptos"/>
                <a:hlinkClick r:id="rId2"/>
              </a:rPr>
              <a:t>GitHub repo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3"/>
              </a:rPr>
              <a:t>EMARKETER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Section 1 | Title and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Agenda and Timing (Professor Guide)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192024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1C2D46"/>
                </a:solidFill>
                <a:latin typeface="Aptos"/>
              </a:defRPr>
            </a:pPr>
            <a:r>
              <a:t>1) Title and team (1 min)</a:t>
            </a:r>
          </a:p>
          <a:p>
            <a:pPr>
              <a:spcAft>
                <a:spcPts val="800"/>
              </a:spcAft>
              <a:defRPr sz="2100">
                <a:solidFill>
                  <a:srgbClr val="1C2D46"/>
                </a:solidFill>
                <a:latin typeface="Aptos"/>
              </a:defRPr>
            </a:pPr>
            <a:r>
              <a:t>2) Business context and problem (2-3 min)</a:t>
            </a:r>
          </a:p>
          <a:p>
            <a:pPr>
              <a:spcAft>
                <a:spcPts val="800"/>
              </a:spcAft>
              <a:defRPr sz="2100">
                <a:solidFill>
                  <a:srgbClr val="1C2D46"/>
                </a:solidFill>
                <a:latin typeface="Aptos"/>
              </a:defRPr>
            </a:pPr>
            <a:r>
              <a:t>3) Data and features (1-3 min)</a:t>
            </a:r>
          </a:p>
          <a:p>
            <a:pPr>
              <a:spcAft>
                <a:spcPts val="800"/>
              </a:spcAft>
              <a:defRPr sz="2100">
                <a:solidFill>
                  <a:srgbClr val="1C2D46"/>
                </a:solidFill>
                <a:latin typeface="Aptos"/>
              </a:defRPr>
            </a:pPr>
            <a:r>
              <a:t>4) AI/ML approach (3-4 min)</a:t>
            </a:r>
          </a:p>
          <a:p>
            <a:pPr>
              <a:spcAft>
                <a:spcPts val="800"/>
              </a:spcAft>
              <a:defRPr sz="2100">
                <a:solidFill>
                  <a:srgbClr val="1C2D46"/>
                </a:solidFill>
                <a:latin typeface="Aptos"/>
              </a:defRPr>
            </a:pPr>
            <a:r>
              <a:t>5) Prototype demo (3-4 min)</a:t>
            </a:r>
          </a:p>
          <a:p>
            <a:pPr>
              <a:spcAft>
                <a:spcPts val="800"/>
              </a:spcAft>
              <a:defRPr sz="2100">
                <a:solidFill>
                  <a:srgbClr val="1C2D46"/>
                </a:solidFill>
                <a:latin typeface="Aptos"/>
              </a:defRPr>
            </a:pPr>
            <a:r>
              <a:t>6) Impact, limitations, next steps (2-3 min)</a:t>
            </a:r>
          </a:p>
          <a:p>
            <a:pPr>
              <a:spcAft>
                <a:spcPts val="800"/>
              </a:spcAft>
              <a:defRPr sz="2100">
                <a:solidFill>
                  <a:srgbClr val="1C2D46"/>
                </a:solidFill>
                <a:latin typeface="Aptos"/>
              </a:defRPr>
            </a:pPr>
            <a:r>
              <a:t>7) How we used AI tools (1-2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>
                <a:solidFill>
                  <a:srgbClr val="6E8098"/>
                </a:solidFill>
                <a:latin typeface="Aptos"/>
              </a:rPr>
              <a:t>MSIS 521 assignment/rubric (internal PDFs)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Section 2 | Roadmap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Business Context and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828800"/>
            <a:ext cx="5440680" cy="438912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38528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33A66"/>
                </a:solidFill>
                <a:latin typeface="Aptos"/>
              </a:defRPr>
            </a:pPr>
            <a:r>
              <a:t>Current MCN-Style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267712"/>
            <a:ext cx="5184648" cy="3858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MCNs aggregate influencer data and broker brand-creator matching.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Brands pay agency/management fees plus campaign budget.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Matching logic is often hard to audit for brand teams.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828800"/>
            <a:ext cx="5440680" cy="438912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27648" y="1938528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33A66"/>
                </a:solidFill>
                <a:latin typeface="Aptos"/>
              </a:defRPr>
            </a:pPr>
            <a:r>
              <a:t>Decision We Improve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59" y="2267712"/>
            <a:ext cx="5184648" cy="3858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From manual or popularity-led creator selection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To evidence-based, product-specific creator ranking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Goal: reduce expensive mismatch risk before launch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 u="sng">
                <a:solidFill>
                  <a:srgbClr val="1A7DBC"/>
                </a:solidFill>
                <a:latin typeface="Aptos"/>
                <a:hlinkClick r:id="rId2"/>
              </a:rPr>
              <a:t>YouTube Content Manager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3"/>
              </a:rPr>
              <a:t>YouTube MCN setup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4"/>
              </a:rPr>
              <a:t>IAB Creator Economy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Section 3 | Context and Decision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Why Now: Market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C2D46"/>
                </a:solidFill>
                <a:latin typeface="Aptos"/>
              </a:defRPr>
            </a:pPr>
            <a:r>
              <a:t>US influencer marketing spend is projected at $10.52B in 2025 (EMARKETER, Mar 13, 2025).</a:t>
            </a:r>
          </a:p>
          <a:p>
            <a:pPr>
              <a:spcAft>
                <a:spcPts val="800"/>
              </a:spcAft>
              <a:defRPr sz="1800">
                <a:solidFill>
                  <a:srgbClr val="1C2D46"/>
                </a:solidFill>
                <a:latin typeface="Aptos"/>
              </a:defRPr>
            </a:pPr>
            <a:r>
              <a:t>YouTube influencer use among US marketers is projected to exceed 50% in 2025 (EMARKETER).</a:t>
            </a:r>
          </a:p>
          <a:p>
            <a:pPr>
              <a:spcAft>
                <a:spcPts val="800"/>
              </a:spcAft>
              <a:defRPr sz="1800">
                <a:solidFill>
                  <a:srgbClr val="1C2D46"/>
                </a:solidFill>
                <a:latin typeface="Aptos"/>
              </a:defRPr>
            </a:pPr>
            <a:r>
              <a:t>Global beauty grew 7.3% YoY in 2025; US beauty sales are 41% e-commerce (NIQ, Feb 25, 2025).</a:t>
            </a:r>
          </a:p>
          <a:p>
            <a:pPr>
              <a:spcAft>
                <a:spcPts val="800"/>
              </a:spcAft>
              <a:defRPr sz="1800">
                <a:solidFill>
                  <a:srgbClr val="1C2D46"/>
                </a:solidFill>
                <a:latin typeface="Aptos"/>
              </a:defRPr>
            </a:pPr>
            <a:r>
              <a:t>McKinsey projects core beauty segments to reach about $590B by 2030, with skincare as the largest segment (Aug 28, 2025).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 u="sng">
                <a:solidFill>
                  <a:srgbClr val="1A7DBC"/>
                </a:solidFill>
                <a:latin typeface="Aptos"/>
                <a:hlinkClick r:id="rId2"/>
              </a:rPr>
              <a:t>EMARKETER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3"/>
              </a:rPr>
              <a:t>NIQ Beauty 2025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4"/>
              </a:rPr>
              <a:t>McKinsey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Section 3 | External Industry Context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Why Beauty and Why BOJ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828800"/>
            <a:ext cx="5440680" cy="434340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38528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33A66"/>
                </a:solidFill>
                <a:latin typeface="Aptos"/>
              </a:defRPr>
            </a:pPr>
            <a:r>
              <a:t>Case Fit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267712"/>
            <a:ext cx="5184648" cy="3813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Beauty creator marketing is large and highly content-driven.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BOJ has visible social momentum and a product-specific campaign story.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BOJ U.S. expansion + sunscreen focus make a practical demo scenario.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(Fashionista coverage, Nov 13, 2024)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828800"/>
            <a:ext cx="5440680" cy="434340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27648" y="1938528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33A66"/>
                </a:solidFill>
                <a:latin typeface="Aptos"/>
              </a:defRPr>
            </a:pPr>
            <a:r>
              <a:t>Dataset Feasibility Signals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59" y="2267712"/>
            <a:ext cx="5184648" cy="3813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Source file: videos_text_ready_combined.csv (n=67,283 videos)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sunscreen: 3,981 videos | 340 channels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spf: 3,850 videos | 344 channels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beauty of joseon: 286 videos | 69 channels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cerave: 747 videos | 118 channels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 u="sng">
                <a:solidFill>
                  <a:srgbClr val="1A7DBC"/>
                </a:solidFill>
                <a:latin typeface="Aptos"/>
                <a:hlinkClick r:id="rId2"/>
              </a:rPr>
              <a:t>Fashionista BOJ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3"/>
              </a:rPr>
              <a:t>BOJ Rice Wonderland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4"/>
              </a:rPr>
              <a:t>FDA 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Section 3 | Client and Case Selection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Data and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5486400" cy="429768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938528"/>
            <a:ext cx="5212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33A66"/>
                </a:solidFill>
                <a:latin typeface="Aptos"/>
              </a:defRPr>
            </a:pPr>
            <a:r>
              <a:t>Data Used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2267712"/>
            <a:ext cx="5230368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Team-collected YouTube API exports (videos/comments/channel fields)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Videos analyzed (full run): 42,750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Channels scored: 1,089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Main files: videos_text_ready, comments_raw, master_prd_slim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828800"/>
            <a:ext cx="5394960" cy="429768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938528"/>
            <a:ext cx="5120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33A66"/>
                </a:solidFill>
                <a:latin typeface="Aptos"/>
              </a:defRPr>
            </a:pPr>
            <a:r>
              <a:t>Feature Groups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2267712"/>
            <a:ext cx="5138928" cy="376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Network features: centrality + community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Text features: TF-IDF + semantic/tone alignment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Behavioral features: views/likes/comments/engagement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Reliability features: evidence score + credibility multiplier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 u="sng">
                <a:solidFill>
                  <a:srgbClr val="1A7DBC"/>
                </a:solidFill>
                <a:latin typeface="Aptos"/>
                <a:hlinkClick r:id="rId2"/>
              </a:rPr>
              <a:t>YouTube Data API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>
                <a:solidFill>
                  <a:srgbClr val="6E8098"/>
                </a:solidFill>
                <a:latin typeface="Aptos"/>
              </a:rPr>
              <a:t>Project data files (internal)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Section 4 | Data and Feature Engineering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Preprocessing and EDA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mmunity_distribution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28800"/>
            <a:ext cx="8686800" cy="4389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0" y="1828800"/>
            <a:ext cx="4114800" cy="438912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79" y="1938528"/>
            <a:ext cx="3840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33A66"/>
                </a:solidFill>
                <a:latin typeface="Aptos"/>
              </a:defRPr>
            </a:pPr>
            <a:r>
              <a:t>What we did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79792" y="2267712"/>
            <a:ext cx="3858768" cy="3858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C2D46"/>
                </a:solidFill>
                <a:latin typeface="Aptos"/>
              </a:defRPr>
            </a:pPr>
            <a:r>
              <a:t>Deduplication + type normalization</a:t>
            </a:r>
          </a:p>
          <a:p>
            <a:pPr>
              <a:spcAft>
                <a:spcPts val="800"/>
              </a:spcAft>
              <a:defRPr sz="1400">
                <a:solidFill>
                  <a:srgbClr val="1C2D46"/>
                </a:solidFill>
                <a:latin typeface="Aptos"/>
              </a:defRPr>
            </a:pPr>
            <a:r>
              <a:t>Beauty include filter + non-beauty noise exclusion</a:t>
            </a:r>
          </a:p>
          <a:p>
            <a:pPr>
              <a:spcAft>
                <a:spcPts val="800"/>
              </a:spcAft>
              <a:defRPr sz="1400">
                <a:solidFill>
                  <a:srgbClr val="1C2D46"/>
                </a:solidFill>
                <a:latin typeface="Aptos"/>
              </a:defRPr>
            </a:pPr>
            <a:r>
              <a:t>Channel-level aggregation and recency features</a:t>
            </a:r>
          </a:p>
          <a:p>
            <a:pPr>
              <a:spcAft>
                <a:spcPts val="800"/>
              </a:spcAft>
              <a:defRPr sz="1400">
                <a:solidFill>
                  <a:srgbClr val="1C2D46"/>
                </a:solidFill>
                <a:latin typeface="Aptos"/>
              </a:defRPr>
            </a:pPr>
            <a:r>
              <a:t>EDA confirmed cluster concentration -&gt; diversity guardrail needed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>
                <a:solidFill>
                  <a:srgbClr val="6E8098"/>
                </a:solidFill>
                <a:latin typeface="Aptos"/>
              </a:rPr>
              <a:t>Preprocessing pipeline (internal)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>
                <a:solidFill>
                  <a:srgbClr val="6E8098"/>
                </a:solidFill>
                <a:latin typeface="Aptos"/>
              </a:rPr>
              <a:t>EDA plots (internal)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Section 4 | Data Understanding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AI/ML Approach (Class-Learned Methods Focus)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C2D46"/>
                </a:solidFill>
                <a:latin typeface="Aptos"/>
              </a:defRPr>
            </a:pPr>
            <a:r>
              <a:t>1) Social Network Analysis: creator graph, centrality, communities</a:t>
            </a:r>
          </a:p>
          <a:p>
            <a:pPr>
              <a:spcAft>
                <a:spcPts val="800"/>
              </a:spcAft>
              <a:defRPr sz="1800">
                <a:solidFill>
                  <a:srgbClr val="1C2D46"/>
                </a:solidFill>
                <a:latin typeface="Aptos"/>
              </a:defRPr>
            </a:pPr>
            <a:r>
              <a:t>2) Text Analytics: TF-IDF relevance + semantic/tone enrichment</a:t>
            </a:r>
          </a:p>
          <a:p>
            <a:pPr>
              <a:spcAft>
                <a:spcPts val="800"/>
              </a:spcAft>
              <a:defRPr sz="1800">
                <a:solidFill>
                  <a:srgbClr val="1C2D46"/>
                </a:solidFill>
                <a:latin typeface="Aptos"/>
              </a:defRPr>
            </a:pPr>
            <a:r>
              <a:t>3) Supervised Regression: Linear, LASSO, Ridge, CART, RandomForest, LightGBM</a:t>
            </a:r>
          </a:p>
          <a:p>
            <a:pPr>
              <a:spcAft>
                <a:spcPts val="800"/>
              </a:spcAft>
              <a:defRPr sz="1800">
                <a:solidFill>
                  <a:srgbClr val="1C2D46"/>
                </a:solidFill>
                <a:latin typeface="Aptos"/>
              </a:defRPr>
            </a:pPr>
            <a:r>
              <a:t>4) Validation: GroupKFold(5) by channel to reduce leakage</a:t>
            </a:r>
          </a:p>
          <a:p>
            <a:pPr>
              <a:spcAft>
                <a:spcPts val="800"/>
              </a:spcAft>
              <a:defRPr sz="1800">
                <a:solidFill>
                  <a:srgbClr val="1C2D46"/>
                </a:solidFill>
                <a:latin typeface="Aptos"/>
              </a:defRPr>
            </a:pPr>
            <a:r>
              <a:t>5) Explainability: SHAP for feature contribution</a:t>
            </a:r>
          </a:p>
          <a:p>
            <a:pPr>
              <a:spcAft>
                <a:spcPts val="800"/>
              </a:spcAft>
              <a:defRPr sz="1800">
                <a:solidFill>
                  <a:srgbClr val="1C2D46"/>
                </a:solidFill>
                <a:latin typeface="Aptos"/>
              </a:defRPr>
            </a:pPr>
            <a:r>
              <a:t>Extensions shown in demo: ROI simulator, strategy and memo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 u="sng">
                <a:solidFill>
                  <a:srgbClr val="1A7DBC"/>
                </a:solidFill>
                <a:latin typeface="Aptos"/>
                <a:hlinkClick r:id="rId2"/>
              </a:rPr>
              <a:t>GroupKFold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3"/>
              </a:rPr>
              <a:t>LightGBM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4"/>
              </a:rPr>
              <a:t>SHAP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Section 5 | Methods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Why This Method Mix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828800"/>
            <a:ext cx="5440680" cy="438912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38528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33A66"/>
                </a:solidFill>
                <a:latin typeface="Aptos"/>
              </a:defRPr>
            </a:pPr>
            <a:r>
              <a:t>Why not follower-count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267712"/>
            <a:ext cx="5184648" cy="3858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Misses campaign-language fit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Misses network position and community overlap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Misses quality/reliability signals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High chance of expensive creator mismatch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828800"/>
            <a:ext cx="5440680" cy="438912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27648" y="1938528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33A66"/>
                </a:solidFill>
                <a:latin typeface="Aptos"/>
              </a:defRPr>
            </a:pPr>
            <a:r>
              <a:t>Hybrid ranking logic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59" y="2267712"/>
            <a:ext cx="5184648" cy="3858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Network influence + text fit + engagement potential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Reliability multiplier to penalize low-signal channels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Diversity constraint for healthier final shortlist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More robust than single-signal ranking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 u="sng">
                <a:solidFill>
                  <a:srgbClr val="1A7DBC"/>
                </a:solidFill>
                <a:latin typeface="Aptos"/>
                <a:hlinkClick r:id="rId2"/>
              </a:rPr>
              <a:t>FTC Influencers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3"/>
              </a:rPr>
              <a:t>FTC Endorsement Guides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4"/>
              </a:rPr>
              <a:t>YouTube MCN reference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Section 5 | Method Choice Rationale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Model Results and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del_benchmark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28800"/>
            <a:ext cx="8500110" cy="44348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0" y="1828800"/>
            <a:ext cx="4069080" cy="443484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79" y="1938528"/>
            <a:ext cx="37947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33A66"/>
                </a:solidFill>
                <a:latin typeface="Aptos"/>
              </a:defRPr>
            </a:pPr>
            <a:r>
              <a:t>Best model: LightGBM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79792" y="2267712"/>
            <a:ext cx="3813048" cy="3904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Best RMSE: 0.00996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Baseline RMSE: 0.03800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Relative RMSE reduction: 73.8%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Interpretation: meaningful uplift over naive 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>
                <a:solidFill>
                  <a:srgbClr val="6E8098"/>
                </a:solidFill>
                <a:latin typeface="Aptos"/>
              </a:rPr>
              <a:t>ML CV outputs (internal)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3"/>
              </a:rPr>
              <a:t>LightGBM docs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Section 5 | Validation Output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Prototype Demo: Input to Output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op10_final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20240"/>
            <a:ext cx="5029200" cy="2615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828800"/>
            <a:ext cx="5486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C2D46"/>
                </a:solidFill>
                <a:latin typeface="Aptos"/>
              </a:defRPr>
            </a:pPr>
            <a:r>
              <a:t>Live flow: campaign input -&gt; Top-N shortlist -&gt; rationale/risk</a:t>
            </a:r>
          </a:p>
          <a:p>
            <a:pPr>
              <a:spcAft>
                <a:spcPts val="800"/>
              </a:spcAft>
              <a:defRPr sz="1700">
                <a:solidFill>
                  <a:srgbClr val="1C2D46"/>
                </a:solidFill>
                <a:latin typeface="Aptos"/>
              </a:defRPr>
            </a:pPr>
            <a:r>
              <a:t>Interactive tabs: Network, Text Intelligence, ML, ROI</a:t>
            </a:r>
          </a:p>
          <a:p>
            <a:pPr>
              <a:spcAft>
                <a:spcPts val="800"/>
              </a:spcAft>
              <a:defRPr sz="1700">
                <a:solidFill>
                  <a:srgbClr val="1C2D46"/>
                </a:solidFill>
                <a:latin typeface="Aptos"/>
              </a:defRPr>
            </a:pPr>
            <a:r>
              <a:t>Use case A: BOJ sunscreen launch planning</a:t>
            </a:r>
          </a:p>
          <a:p>
            <a:pPr>
              <a:spcAft>
                <a:spcPts val="800"/>
              </a:spcAft>
              <a:defRPr sz="1700">
                <a:solidFill>
                  <a:srgbClr val="1C2D46"/>
                </a:solidFill>
                <a:latin typeface="Aptos"/>
              </a:defRPr>
            </a:pPr>
            <a:r>
              <a:t>Use case B: CeraVe benchmark for shortlist calibration</a:t>
            </a:r>
          </a:p>
          <a:p>
            <a:pPr>
              <a:spcAft>
                <a:spcPts val="800"/>
              </a:spcAft>
              <a:defRPr sz="1700">
                <a:solidFill>
                  <a:srgbClr val="1C2D46"/>
                </a:solidFill>
                <a:latin typeface="Aptos"/>
              </a:defRPr>
            </a:pPr>
            <a:r>
              <a:t>Decision output: ranked creators + risk notes + memo export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 u="sng">
                <a:solidFill>
                  <a:srgbClr val="1A7DBC"/>
                </a:solidFill>
                <a:latin typeface="Aptos"/>
                <a:hlinkClick r:id="rId3"/>
              </a:rPr>
              <a:t>Streamlit docs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>
                <a:solidFill>
                  <a:srgbClr val="6E8098"/>
                </a:solidFill>
                <a:latin typeface="Aptos"/>
              </a:rPr>
              <a:t>Prototype app/pipeline (internal)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Section 6 | Live Demo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Business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5486400" cy="438912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938528"/>
            <a:ext cx="5212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33A66"/>
                </a:solidFill>
                <a:latin typeface="Aptos"/>
              </a:defRPr>
            </a:pPr>
            <a:r>
              <a:t>How this helps the client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2267712"/>
            <a:ext cx="5230368" cy="3858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Faster influencer shortlisting and campaign planning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Transparent recommendation logic for stakeholder trust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Reduced mismatch risk before spending budget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Scenario-based ROI planning and expectation setting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828800"/>
            <a:ext cx="5394960" cy="438912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938528"/>
            <a:ext cx="5120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33A66"/>
                </a:solidFill>
                <a:latin typeface="Aptos"/>
              </a:defRPr>
            </a:pPr>
            <a:r>
              <a:t>Decisions improved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2267712"/>
            <a:ext cx="5138928" cy="3858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Who to prioritize in outreach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How many creators to activate by objective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How much budget risk is acceptable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Base ROI scenario in run: 1.14x expected ROAS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 u="sng">
                <a:solidFill>
                  <a:srgbClr val="1A7DBC"/>
                </a:solidFill>
                <a:latin typeface="Aptos"/>
                <a:hlinkClick r:id="rId2"/>
              </a:rPr>
              <a:t>IAB Creator Economy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3"/>
              </a:rPr>
              <a:t>YouTube U.S. Impact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Section 7 | Business Value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Limitations, Ethics, and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5440680" cy="438912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938528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33A66"/>
                </a:solidFill>
                <a:latin typeface="Aptos"/>
              </a:defRPr>
            </a:pPr>
            <a:r>
              <a:t>Current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2267712"/>
            <a:ext cx="5184648" cy="3858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Pre-collected YouTube dataset (not live cross-platform feed)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ROI is scenario estimate, not causal proof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Remaining cluster concentration in skincare niches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Need larger-scale operational monitoring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828800"/>
            <a:ext cx="5440680" cy="438912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938528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33A66"/>
                </a:solidFill>
                <a:latin typeface="Aptos"/>
              </a:defRPr>
            </a:pPr>
            <a:r>
              <a:t>Ethics and roadmap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2267712"/>
            <a:ext cx="5184648" cy="3858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Bias checks: degree-overlap diagnostics + evidence penalty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Privacy: no sensitive personal profiling in prototype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Next: live connectors + fairness constraints + pilot calibration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Target: weekly decision-support workflow for brand teams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 u="sng">
                <a:solidFill>
                  <a:srgbClr val="1A7DBC"/>
                </a:solidFill>
                <a:latin typeface="Aptos"/>
                <a:hlinkClick r:id="rId2"/>
              </a:rPr>
              <a:t>FTC Influencer Disclosures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3"/>
              </a:rPr>
              <a:t>SAFE Sunscreen (House)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4"/>
              </a:rPr>
              <a:t>FDA 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Section 7 | Caveats and Roadmap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How We Used AI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5440680" cy="434340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938528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33A66"/>
                </a:solidFill>
                <a:latin typeface="Aptos"/>
              </a:defRPr>
            </a:pPr>
            <a:r>
              <a:t>Where AI tools helped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2267712"/>
            <a:ext cx="5184648" cy="3813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Ideation and scope refinement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Implementation acceleration and debugging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Documentation and memo drafting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Slide polishing and presentation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828800"/>
            <a:ext cx="5440680" cy="4343400"/>
          </a:xfrm>
          <a:prstGeom prst="roundRect">
            <a:avLst/>
          </a:prstGeom>
          <a:solidFill>
            <a:srgbClr val="F2F7FC"/>
          </a:solidFill>
          <a:ln w="15875">
            <a:solidFill>
              <a:srgbClr val="CDDC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938528"/>
            <a:ext cx="5166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133A66"/>
                </a:solidFill>
                <a:latin typeface="Aptos"/>
              </a:defRPr>
            </a:pPr>
            <a:r>
              <a:t>Human responsibility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2267712"/>
            <a:ext cx="5184648" cy="3813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Problem framing and business assumptions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Model choice, validation, and guardrail design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Result interpretation and recommendation decisions</a:t>
            </a:r>
          </a:p>
          <a:p>
            <a:pPr>
              <a:spcAft>
                <a:spcPts val="800"/>
              </a:spcAft>
              <a:defRPr sz="1500">
                <a:solidFill>
                  <a:srgbClr val="1C2D46"/>
                </a:solidFill>
                <a:latin typeface="Aptos"/>
              </a:defRPr>
            </a:pPr>
            <a:r>
              <a:t>Final accountability stayed with the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>
                <a:solidFill>
                  <a:srgbClr val="6E8098"/>
                </a:solidFill>
                <a:latin typeface="Aptos"/>
              </a:rPr>
              <a:t>Project commits/artifacts (internal)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2"/>
              </a:rPr>
              <a:t>OpenAI platform docs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Section 8 | AI Tooling Disclosure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2C59"/>
                </a:solidFill>
                <a:latin typeface="Aptos Display"/>
              </a:defRPr>
            </a:pPr>
            <a:r>
              <a:t>Conclusion, References, and Q&amp;A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755648"/>
            <a:ext cx="2651760" cy="73152"/>
          </a:xfrm>
          <a:prstGeom prst="rect">
            <a:avLst/>
          </a:prstGeom>
          <a:solidFill>
            <a:srgbClr val="1A7D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1828800"/>
            <a:ext cx="109728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Conclusion: AI-MCN can reduce manual MCN dependence and improve influencer decision quality.</a:t>
            </a:r>
          </a:p>
          <a:p>
            <a:pPr>
              <a:spcAft>
                <a:spcPts val="8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EMARKETER (Mar 13, 2025): US influencer spend and YouTube marketer adoption</a:t>
            </a:r>
          </a:p>
          <a:p>
            <a:pPr>
              <a:spcAft>
                <a:spcPts val="8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NIQ (Feb 25, 2025): beauty growth and e-commerce/social commerce indicators</a:t>
            </a:r>
          </a:p>
          <a:p>
            <a:pPr>
              <a:spcAft>
                <a:spcPts val="8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McKinsey (Aug 28, 2025): beauty market outlook to 2030</a:t>
            </a:r>
          </a:p>
          <a:p>
            <a:pPr>
              <a:spcAft>
                <a:spcPts val="8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Fashionista (Nov 13, 2024): BOJ virality and U.S. market context</a:t>
            </a:r>
          </a:p>
          <a:p>
            <a:pPr>
              <a:spcAft>
                <a:spcPts val="800"/>
              </a:spcAft>
              <a:defRPr sz="1600">
                <a:solidFill>
                  <a:srgbClr val="1C2D46"/>
                </a:solidFill>
                <a:latin typeface="Aptos"/>
              </a:defRPr>
            </a:pPr>
            <a:r>
              <a:t>Technical refs: YouTube API, scikit-learn, LightGBM, SHAP, Streamlit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534924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105696"/>
                </a:solidFill>
                <a:latin typeface="Aptos Display"/>
              </a:defRPr>
            </a:pPr>
            <a:r>
              <a:t>Thank you.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28232"/>
            <a:ext cx="85039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6E8098"/>
                </a:solidFill>
                <a:latin typeface="Aptos"/>
              </a:rPr>
              <a:t>Sources: </a:t>
            </a:r>
            <a:r>
              <a:rPr sz="850" u="sng">
                <a:solidFill>
                  <a:srgbClr val="1A7DBC"/>
                </a:solidFill>
                <a:latin typeface="Aptos"/>
                <a:hlinkClick r:id="rId2"/>
              </a:rPr>
              <a:t>EMARKETER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3"/>
              </a:rPr>
              <a:t>NIQ</a:t>
            </a:r>
            <a:r>
              <a:rPr sz="850">
                <a:solidFill>
                  <a:srgbClr val="8291A5"/>
                </a:solidFill>
                <a:latin typeface="Aptos"/>
              </a:rPr>
              <a:t> | </a:t>
            </a:r>
            <a:r>
              <a:rPr sz="850" u="sng">
                <a:solidFill>
                  <a:srgbClr val="1A7DBC"/>
                </a:solidFill>
                <a:latin typeface="Aptos"/>
                <a:hlinkClick r:id="rId4"/>
              </a:rPr>
              <a:t>McKinsey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89720" y="6428232"/>
            <a:ext cx="2514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8098"/>
                </a:solidFill>
                <a:latin typeface="Aptos"/>
              </a:defRPr>
            </a:pPr>
            <a:r>
              <a:t>AI-MCN | MSIS 521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