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AI-MCN: Replacing Traditional MCN Matching with an AI Decision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7899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5F80"/>
                </a:solidFill>
                <a:latin typeface="Aptos"/>
              </a:defRPr>
            </a:pPr>
            <a:r>
              <a:t>MSIS 521 Course Project | 15-minute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C2D46"/>
                </a:solidFill>
                <a:latin typeface="Aptos"/>
              </a:defRPr>
            </a:pPr>
            <a:r>
              <a:t>Client case: Beauty of Joseon (BOJ), U.S. sunscreen campaign</a:t>
            </a:r>
          </a:p>
          <a:p>
            <a:pPr>
              <a:spcAft>
                <a:spcPts val="800"/>
              </a:spcAft>
              <a:defRPr sz="2300">
                <a:solidFill>
                  <a:srgbClr val="1C2D46"/>
                </a:solidFill>
                <a:latin typeface="Aptos"/>
              </a:defRPr>
            </a:pPr>
            <a:r>
              <a:t>Goal: help brands find best-fit influencers directly with transparent AI logic</a:t>
            </a:r>
          </a:p>
          <a:p>
            <a:pPr>
              <a:spcAft>
                <a:spcPts val="800"/>
              </a:spcAft>
              <a:defRPr sz="2300">
                <a:solidFill>
                  <a:srgbClr val="1C2D46"/>
                </a:solidFill>
                <a:latin typeface="Aptos"/>
              </a:defRPr>
            </a:pPr>
            <a:r>
              <a:t>Team: [Add names]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1 | Title and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Agenda and Timing (Professor Guide)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1) Title and team (1 min)</a:t>
            </a:r>
          </a:p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2) Business context and problem (2-3 min)</a:t>
            </a:r>
          </a:p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3) Data and features (1-3 min)</a:t>
            </a:r>
          </a:p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4) AI/ML approach (3-4 min)</a:t>
            </a:r>
          </a:p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5) Prototype demo (3-4 min)</a:t>
            </a:r>
          </a:p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6) Impact, limitations, next steps (2-3 min)</a:t>
            </a:r>
          </a:p>
          <a:p>
            <a:pPr>
              <a:spcAft>
                <a:spcPts val="8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7) How we used AI tools (1-2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2 |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Business Context and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44068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Current MCN-Style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51846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MCNs aggregate influencer data and broker brand-creator matching.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Brands pay agency/management fees plus campaign budget.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Matching logic is often hard to audit for brand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828800"/>
            <a:ext cx="544068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Decision We 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267712"/>
            <a:ext cx="51846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From manual or popularity-led creator selection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To evidence-based, product-specific creator ranking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Goal: reduce expensive mismatch risk before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3 | Context and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Why Now: Market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US influencer marketing spend is projected at $10.52B in 2025 (EMARKETER, Mar 13, 2025).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YouTube influencer use among US marketers is projected to exceed 50% in 2025 (EMARKETER).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Global beauty grew 7.3% YoY in 2025; US beauty sales are 41% e-commerce (NIQ, Feb 25, 2025).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McKinsey projects core beauty segments to reach about $590B by 2030, with skincare as the largest segment (Aug 28, 2025).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3 | External Industry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Why Beauty and Why BOJ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440680" cy="434340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Case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5184648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Beauty creator marketing is large and highly content-driven.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BOJ has visible social momentum and a product-specific campaign story.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BOJ U.S. expansion + sunscreen focus make a practical demo scenario.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(Fashionista coverage, Nov 13, 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828800"/>
            <a:ext cx="5440680" cy="434340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Dataset Feasibility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267712"/>
            <a:ext cx="5184648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Source file: videos_text_ready_combined.csv (n=67,283 videos)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sunscreen: 3,981 videos | 340 channels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spf: 3,850 videos | 344 channels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beauty of joseon: 286 videos | 69 channels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cerave: 747 videos | 118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3 | Client and Case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Data and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429768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Data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267712"/>
            <a:ext cx="523036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Team-collected YouTube API exports (videos/comments/channel fields)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Videos analyzed (full run): 42,750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Channels scored: 1,089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Main files: videos_text_ready, comments_raw, master_prd_slim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94960" cy="429768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3852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267712"/>
            <a:ext cx="513892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Network features: centrality + community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Text features: TF-IDF + semantic/tone alignment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Behavioral features: views/likes/comments/engagement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Reliability features: evidence score + credibility multiplier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4 | Data and 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Preprocessing and EDA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munity_distributio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8800"/>
            <a:ext cx="86868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828800"/>
            <a:ext cx="411480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938528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What we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2267712"/>
            <a:ext cx="385876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Deduplication + type normalization</a:t>
            </a:r>
          </a:p>
          <a:p>
            <a:pPr>
              <a:spcAft>
                <a:spcPts val="8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Beauty include filter + non-beauty noise exclusion</a:t>
            </a:r>
          </a:p>
          <a:p>
            <a:pPr>
              <a:spcAft>
                <a:spcPts val="8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Channel-level aggregation and recency features</a:t>
            </a:r>
          </a:p>
          <a:p>
            <a:pPr>
              <a:spcAft>
                <a:spcPts val="8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EDA confirmed cluster concentration -&gt; diversity guardrail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4 | Data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AI/ML Approach (Class-Learned Methods Focus)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1) Social Network Analysis: creator graph, centrality, communities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2) Text Analytics: TF-IDF relevance + semantic/tone enrichment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3) Supervised Regression: Linear, LASSO, Ridge, CART, RandomForest, LightGBM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4) Validation: GroupKFold(5) by channel to reduce leakage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5) Explainability: SHAP for feature contribution</a:t>
            </a:r>
          </a:p>
          <a:p>
            <a:pPr>
              <a:spcAft>
                <a:spcPts val="8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Extensions shown in demo: ROI simulator, strategy and memo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5 |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Why This Method Mix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544068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Why not follower-count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51846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Misses campaign-language fit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Misses network position and community overlap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Misses quality/reliability signals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High chance of expensive creator mismatch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828800"/>
            <a:ext cx="544068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Hybrid ranking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267712"/>
            <a:ext cx="51846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Network influence + text fit + engagement potential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Reliability multiplier to penalize low-signal channels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Diversity constraint for healthier final shortlist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More robust than single-signal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5 | Method Choice Rationale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Model Results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benchmark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28800"/>
            <a:ext cx="850011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828800"/>
            <a:ext cx="4069080" cy="443484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938528"/>
            <a:ext cx="3794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Best model: LightGBM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792" y="2267712"/>
            <a:ext cx="3813048" cy="390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Best RMSE: 0.00996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Baseline RMSE: 0.03800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Relative RMSE reduction: 73.8%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Interpretation: meaningful uplift over naive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5 | Validation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Prototype Demo: Input to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10_final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029200" cy="2615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D46"/>
                </a:solidFill>
                <a:latin typeface="Aptos"/>
              </a:defRPr>
            </a:pPr>
            <a:r>
              <a:t>Live flow: campaign input -&gt; Top-N shortlist -&gt; rationale/risk</a:t>
            </a:r>
          </a:p>
          <a:p>
            <a:pPr>
              <a:spcAft>
                <a:spcPts val="800"/>
              </a:spcAft>
              <a:defRPr sz="1700">
                <a:solidFill>
                  <a:srgbClr val="1C2D46"/>
                </a:solidFill>
                <a:latin typeface="Aptos"/>
              </a:defRPr>
            </a:pPr>
            <a:r>
              <a:t>Interactive tabs: Network, Text Intelligence, ML, ROI</a:t>
            </a:r>
          </a:p>
          <a:p>
            <a:pPr>
              <a:spcAft>
                <a:spcPts val="800"/>
              </a:spcAft>
              <a:defRPr sz="1700">
                <a:solidFill>
                  <a:srgbClr val="1C2D46"/>
                </a:solidFill>
                <a:latin typeface="Aptos"/>
              </a:defRPr>
            </a:pPr>
            <a:r>
              <a:t>Use case A: BOJ sunscreen launch planning</a:t>
            </a:r>
          </a:p>
          <a:p>
            <a:pPr>
              <a:spcAft>
                <a:spcPts val="800"/>
              </a:spcAft>
              <a:defRPr sz="1700">
                <a:solidFill>
                  <a:srgbClr val="1C2D46"/>
                </a:solidFill>
                <a:latin typeface="Aptos"/>
              </a:defRPr>
            </a:pPr>
            <a:r>
              <a:t>Use case B: CeraVe benchmark for shortlist calibration</a:t>
            </a:r>
          </a:p>
          <a:p>
            <a:pPr>
              <a:spcAft>
                <a:spcPts val="800"/>
              </a:spcAft>
              <a:defRPr sz="1700">
                <a:solidFill>
                  <a:srgbClr val="1C2D46"/>
                </a:solidFill>
                <a:latin typeface="Aptos"/>
              </a:defRPr>
            </a:pPr>
            <a:r>
              <a:t>Decision output: ranked creators + risk notes + memo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6 | Live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828800"/>
            <a:ext cx="548640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38528"/>
            <a:ext cx="521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How this helps the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67712"/>
            <a:ext cx="523036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Faster influencer shortlisting and campaign planning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Transparent recommendation logic for stakeholder trust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Reduced mismatch risk before spending budget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Scenario-based ROI planning and expectation setting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9496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3852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Decisions improved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267712"/>
            <a:ext cx="513892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Who to prioritize in outreach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How many creators to activate by objective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How much budget risk is acceptable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Base ROI scenario in run: 1.14x expected 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7 | Business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Limitations, Ethics,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4068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267712"/>
            <a:ext cx="51846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Pre-collected YouTube dataset (not live cross-platform feed)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ROI is scenario estimate, not causal proof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Remaining cluster concentration in skincare niches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Need larger-scale operational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440680" cy="438912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Ethics and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267712"/>
            <a:ext cx="5184648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Bias checks: degree-overlap diagnostics + evidence penalty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Privacy: no sensitive personal profiling in prototype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Next: live connectors + fairness constraints + pilot calibration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Target: weekly decision-support workflow for brand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7 | Caveats and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How We Used AI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40680" cy="434340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Where AI tools helped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267712"/>
            <a:ext cx="5184648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Ideation and scope refinement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Implementation acceleration and debugging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Documentation and memo drafting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Slide polishing and presentation prep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440680" cy="4343400"/>
          </a:xfrm>
          <a:prstGeom prst="roundRect">
            <a:avLst/>
          </a:prstGeom>
          <a:solidFill>
            <a:srgbClr val="F2F7FC"/>
          </a:solidFill>
          <a:ln w="15875"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3852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3A66"/>
                </a:solidFill>
                <a:latin typeface="Aptos"/>
              </a:defRPr>
            </a:pPr>
            <a:r>
              <a:t>Human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267712"/>
            <a:ext cx="5184648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Problem framing and business assumptions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Model choice, validation, and guardrail design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Result interpretation and recommendation decisions</a:t>
            </a:r>
          </a:p>
          <a:p>
            <a:pPr>
              <a:spcAft>
                <a:spcPts val="8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Final accountability stayed with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Section 8 | AI Tooling Disclosure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C59"/>
                </a:solidFill>
                <a:latin typeface="Aptos Display"/>
              </a:defRPr>
            </a:pPr>
            <a:r>
              <a:t>Conclusion, References, and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755648"/>
            <a:ext cx="2651760" cy="73152"/>
          </a:xfrm>
          <a:prstGeom prst="rect">
            <a:avLst/>
          </a:prstGeom>
          <a:solidFill>
            <a:srgbClr val="1A7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D46"/>
                </a:solidFill>
                <a:latin typeface="Aptos"/>
              </a:defRPr>
            </a:pPr>
            <a:r>
              <a:t>Conclusion: AI-MCN can reduce manual MCN dependence and improve influencer decision quality.</a:t>
            </a:r>
          </a:p>
          <a:p>
            <a:pPr>
              <a:spcAft>
                <a:spcPts val="800"/>
              </a:spcAft>
              <a:defRPr sz="1600">
                <a:solidFill>
                  <a:srgbClr val="1C2D46"/>
                </a:solidFill>
                <a:latin typeface="Aptos"/>
              </a:defRPr>
            </a:pPr>
            <a:r>
              <a:t>EMARKETER (Mar 13, 2025): US influencer spend and YouTube marketer adoption</a:t>
            </a:r>
          </a:p>
          <a:p>
            <a:pPr>
              <a:spcAft>
                <a:spcPts val="800"/>
              </a:spcAft>
              <a:defRPr sz="1600">
                <a:solidFill>
                  <a:srgbClr val="1C2D46"/>
                </a:solidFill>
                <a:latin typeface="Aptos"/>
              </a:defRPr>
            </a:pPr>
            <a:r>
              <a:t>NIQ (Feb 25, 2025): beauty growth and e-commerce/social commerce indicators</a:t>
            </a:r>
          </a:p>
          <a:p>
            <a:pPr>
              <a:spcAft>
                <a:spcPts val="800"/>
              </a:spcAft>
              <a:defRPr sz="1600">
                <a:solidFill>
                  <a:srgbClr val="1C2D46"/>
                </a:solidFill>
                <a:latin typeface="Aptos"/>
              </a:defRPr>
            </a:pPr>
            <a:r>
              <a:t>McKinsey (Aug 28, 2025): beauty market outlook to 2030</a:t>
            </a:r>
          </a:p>
          <a:p>
            <a:pPr>
              <a:spcAft>
                <a:spcPts val="800"/>
              </a:spcAft>
              <a:defRPr sz="1600">
                <a:solidFill>
                  <a:srgbClr val="1C2D46"/>
                </a:solidFill>
                <a:latin typeface="Aptos"/>
              </a:defRPr>
            </a:pPr>
            <a:r>
              <a:t>Fashionista (Nov 13, 2024): BOJ virality and U.S. market context</a:t>
            </a:r>
          </a:p>
          <a:p>
            <a:pPr>
              <a:spcAft>
                <a:spcPts val="800"/>
              </a:spcAft>
              <a:defRPr sz="1600">
                <a:solidFill>
                  <a:srgbClr val="1C2D46"/>
                </a:solidFill>
                <a:latin typeface="Aptos"/>
              </a:defRPr>
            </a:pPr>
            <a:r>
              <a:t>Technical refs: YouTube API, scikit-learn, LightGBM, SHAP,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5778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05696"/>
                </a:solidFill>
                <a:latin typeface="Aptos Display"/>
              </a:defRPr>
            </a:pPr>
            <a:r>
              <a:t>Thank you.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282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8098"/>
                </a:solidFill>
                <a:latin typeface="Aptos"/>
              </a:defRPr>
            </a:pPr>
            <a:r>
              <a:t>AI-MCN | MSIS 521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