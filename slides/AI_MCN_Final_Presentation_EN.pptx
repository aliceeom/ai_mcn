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AI-MCN: AI-Augmented Influencer Matching for Beauty Campaigns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A5F80"/>
                </a:solidFill>
                <a:latin typeface="Aptos"/>
              </a:defRPr>
            </a:pPr>
            <a:r>
              <a:t>MSIS 521 Course Project | Team Presentation (15 minutes)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10881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400">
                <a:solidFill>
                  <a:srgbClr val="1C2D46"/>
                </a:solidFill>
                <a:latin typeface="Aptos"/>
              </a:defRPr>
            </a:pPr>
            <a:r>
              <a:t>Case: Beauty of Joseon (BOJ), U.S. sunscreen campaign scenario</a:t>
            </a:r>
          </a:p>
          <a:p>
            <a:pPr>
              <a:spcAft>
                <a:spcPts val="900"/>
              </a:spcAft>
              <a:defRPr sz="2400">
                <a:solidFill>
                  <a:srgbClr val="1C2D46"/>
                </a:solidFill>
                <a:latin typeface="Aptos"/>
              </a:defRPr>
            </a:pPr>
            <a:r>
              <a:t>Prototype: Streamlit app + modular Python AI pipeline</a:t>
            </a:r>
          </a:p>
          <a:p>
            <a:pPr>
              <a:spcAft>
                <a:spcPts val="900"/>
              </a:spcAft>
              <a:defRPr sz="2400">
                <a:solidFill>
                  <a:srgbClr val="1C2D46"/>
                </a:solidFill>
                <a:latin typeface="Aptos"/>
              </a:defRPr>
            </a:pPr>
            <a:r>
              <a:t>Output: Top-N recommendations, model benchmark, explainability, ROI simulator, memo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AI-MCN | MSIS 521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Problem and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5440680" cy="429768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93852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04288"/>
            <a:ext cx="5120640" cy="373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Influencer discovery is often manual, slow, and popularity-biased.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Teams need transparent, evidence-based creator selection.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Campaign planning needs measurable support, not only intuition.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29768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5936" y="193852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Scope Discipline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7648" y="2304288"/>
            <a:ext cx="5120640" cy="373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In-scope: end-to-end matching prototype and live demo.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Out-of-scope: full production MLOps and multi-platform live ingestion.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Quarter-feasible scope with meaningful technical depth.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Rubric 1: Topic choice, scope, interest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Assignment Requirements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6858000"/>
              </a:tblGrid>
              <a:tr h="71323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Assignment 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Our Implementation</a:t>
                      </a:r>
                    </a:p>
                  </a:txBody>
                  <a:tcPr/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Pick a problem and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BOJ influencer matching scenario</a:t>
                      </a:r>
                    </a:p>
                  </a:txBody>
                  <a:tcPr/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Collect/obtain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Team-collected YouTube videos/channels/comments</a:t>
                      </a:r>
                    </a:p>
                  </a:txBody>
                  <a:tcPr/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Prototype in 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Streamlit + AI pipeline modules</a:t>
                      </a:r>
                    </a:p>
                  </a:txBody>
                  <a:tcPr/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Present process + story + demo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223F"/>
                          </a:solidFill>
                          <a:latin typeface="Aptos"/>
                        </a:defRPr>
                      </a:pPr>
                      <a:r>
                        <a:t>This deck + live app walkthrough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Assignment deliverables: code + slides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Data Overview (BOJ Run)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2697480" cy="1417320"/>
          </a:xfrm>
          <a:prstGeom prst="roundRect">
            <a:avLst/>
          </a:prstGeom>
          <a:solidFill>
            <a:srgbClr val="EBF5FF"/>
          </a:solidFill>
          <a:ln>
            <a:solidFill>
              <a:srgbClr val="BCD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24231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>
                <a:solidFill>
                  <a:srgbClr val="1560A2"/>
                </a:solidFill>
                <a:latin typeface="Aptos Display"/>
              </a:defRPr>
            </a:pPr>
            <a:r>
              <a:t>42,750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B577E"/>
                </a:solidFill>
                <a:latin typeface="Aptos"/>
              </a:defRPr>
            </a:pPr>
            <a:r>
              <a:t>Videos analyzed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057400"/>
            <a:ext cx="2697480" cy="1417320"/>
          </a:xfrm>
          <a:prstGeom prst="roundRect">
            <a:avLst/>
          </a:prstGeom>
          <a:solidFill>
            <a:srgbClr val="EBF5FF"/>
          </a:solidFill>
          <a:ln>
            <a:solidFill>
              <a:srgbClr val="BCD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2240280"/>
            <a:ext cx="24231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>
                <a:solidFill>
                  <a:srgbClr val="1560A2"/>
                </a:solidFill>
                <a:latin typeface="Aptos Display"/>
              </a:defRPr>
            </a:pPr>
            <a:r>
              <a:t>1,089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78892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B577E"/>
                </a:solidFill>
                <a:latin typeface="Aptos"/>
              </a:defRPr>
            </a:pPr>
            <a:r>
              <a:t>Channels scored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057400"/>
            <a:ext cx="2697480" cy="1417320"/>
          </a:xfrm>
          <a:prstGeom prst="roundRect">
            <a:avLst/>
          </a:prstGeom>
          <a:solidFill>
            <a:srgbClr val="EBF5FF"/>
          </a:solidFill>
          <a:ln>
            <a:solidFill>
              <a:srgbClr val="BCD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240280"/>
            <a:ext cx="24231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>
                <a:solidFill>
                  <a:srgbClr val="1560A2"/>
                </a:solidFill>
                <a:latin typeface="Aptos Display"/>
              </a:defRPr>
            </a:pPr>
            <a:r>
              <a:t>Top-10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B577E"/>
                </a:solidFill>
                <a:latin typeface="Aptos"/>
              </a:defRPr>
            </a:pPr>
            <a:r>
              <a:t>Default recommendations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2057400"/>
            <a:ext cx="2697480" cy="1417320"/>
          </a:xfrm>
          <a:prstGeom prst="roundRect">
            <a:avLst/>
          </a:prstGeom>
          <a:solidFill>
            <a:srgbClr val="EBF5FF"/>
          </a:solidFill>
          <a:ln>
            <a:solidFill>
              <a:srgbClr val="BCD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64040" y="2240280"/>
            <a:ext cx="2423160" cy="5120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600">
                <a:solidFill>
                  <a:srgbClr val="1560A2"/>
                </a:solidFill>
                <a:latin typeface="Aptos Display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2788920"/>
            <a:ext cx="2423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B577E"/>
                </a:solidFill>
                <a:latin typeface="Aptos"/>
              </a:defRPr>
            </a:pPr>
            <a:r>
              <a:t>Non-micro communities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4048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Input files: videos_text_ready_combined.csv, comments_raw_combined.csv, master_prd_slim_combined.csv</a:t>
            </a:r>
          </a:p>
          <a:p>
            <a:pPr>
              <a:spcAft>
                <a:spcPts val="9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Campaign input: BOJ SPF + Glow Serum, U.S. market, sensitive-skin audience, $50,000 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Data-driven prototype with fixed reproducible input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Method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1) Data cleaning + beauty/noise filter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2) Channel aggregation and text profile generation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3) Network scoring (centrality + community detection)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4) TF-IDF relevance + semantic/tone enrichment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5) Evidence guardrail + diversity-aware ranking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6) ML benchmark (Linear/LASSO/Ridge/CART/RF/LightGBM, GroupKFold 5-fold)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7) ROI simulation + strategy generation + executive memo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Rubric 3: Technical aspects and method choice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Model Evaluation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benchmark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823722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828800"/>
            <a:ext cx="4114800" cy="429768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16368" y="1938528"/>
            <a:ext cx="3794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Best model: LightGBM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304288"/>
            <a:ext cx="3794760" cy="373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Best RMSE: 0.00996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Baseline RMSE: 0.03800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RMSE reduction vs baseline: 73.8%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Group-based CV used to reduce channel leakage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6 models compared under the same CV protocol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Explainability (SHAP)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summary_LightG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7340308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269480" y="1828800"/>
            <a:ext cx="420624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70648" y="1938528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Why SHAP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04288"/>
            <a:ext cx="3886200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Shows which features drive engagement predictions.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Improves trust for non-technical stakeholders.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Helps diagnose unstable or misleading signals.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Rubric 3: Evaluation and sanity checking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Top-10 BOJ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p10_final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870438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Top 3 channels: AliceintheRabbitHole, Dr. Sam Ellis, NikkieTutorials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Guardrails Against Bad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vidence_vs_finalscore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993402" cy="4434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42631" y="1828800"/>
            <a:ext cx="4069080" cy="443484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43800" y="1938528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Bias and quality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25511" y="2304288"/>
            <a:ext cx="3749040" cy="3867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Low-evidence channels are automatically down-weighted.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Diversity guardrail prevents single-cluster over-concentration.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Degree-only vs hybrid overlap: 2/10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Reduced popularity bias with evidence-based filtering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Network Diversity Diagnostics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munity_distribution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8686800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828800"/>
            <a:ext cx="411480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16368" y="1938528"/>
            <a:ext cx="3794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Community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304288"/>
            <a:ext cx="3794760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Non-micro communities discovered: 6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Largest non-micro community share: 43.8%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Micro/isolated channels separated to improve readability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Community-aware matching for healthier shortlist diversity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ROI Scenario (Business Lens)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i_funnel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8046720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78040" y="1828800"/>
            <a:ext cx="4251960" cy="448056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79208" y="1938528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Base scenario outputs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19" y="2304288"/>
            <a:ext cx="3931920" cy="3913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Budget: $50,000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Impressions: 2,777,777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Clicks: 49,999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Conversions: 1,499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Expected ROAS: 1.14x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Scenario estimate only, not causal guarantee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Live Demo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1) Enter campaign input (brand/product/audience/keywords/budget)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2) Run analysis and show analyzing workflow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3) Inspect Top-N cards with rationale and evidence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4) Change ranking strategy and diversity controls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5) Explore Text Intelligence and Network Studio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6) Review ML Studio (model comparison + SHAP)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7) Adjust ROI assumptions and export memo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Rubric 4: Demo clarity and storytelling flow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Limitations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93852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Current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304288"/>
            <a:ext cx="5120640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Prototype uses pre-collected YouTube data.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ROI module is scenario simulation, not causal inference.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Cluster concentration still exists in skincare-heavy niches.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1938528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304288"/>
            <a:ext cx="5120640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Add live market and competitor enrichment.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Expand to TikTok/Instagram connectors.</a:t>
            </a:r>
          </a:p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Introduce experiment loop for closed-loop learning.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Honest caveats + practical roadmap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Rubric Alignment (Target: 9-10)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" y="1828800"/>
          <a:ext cx="109270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269480"/>
              </a:tblGrid>
              <a:tr h="905256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Rubric 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Project Evidence</a:t>
                      </a:r>
                    </a:p>
                  </a:txBody>
                  <a:tcPr/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Topic choice, scope, interest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Clear marketing problem, creative hybrid AI scope, feasible for course timeline</a:t>
                      </a:r>
                    </a:p>
                  </a:txBody>
                  <a:tcPr/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Potential impact and relevance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Directly supports influencer and budget decisions for brand teams</a:t>
                      </a:r>
                    </a:p>
                  </a:txBody>
                  <a:tcPr/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Technical aspects of prototype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Working end-to-end app, 6-model benchmark, SHAP, bias diagnostics</a:t>
                      </a:r>
                    </a:p>
                  </a:txBody>
                  <a:tcPr/>
                </a:tc>
              </a:tr>
              <a:tr h="9052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Presentation quality/storytelling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42642"/>
                          </a:solidFill>
                          <a:latin typeface="Aptos"/>
                        </a:defRPr>
                      </a:pPr>
                      <a:r>
                        <a:t>Context -&gt; method -&gt; evidence -&gt; demo -&gt; impact narrative with visuals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Directly mapped to MSIS 521 project rubric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15-Minute Delivery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0:00-2:00 Problem and scope</a:t>
            </a:r>
          </a:p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2:00-5:30 Data and method pipeline</a:t>
            </a:r>
          </a:p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5:30-8:30 Evaluation and explainability</a:t>
            </a:r>
          </a:p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8:30-12:30 Live demo</a:t>
            </a:r>
          </a:p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12:30-14:00 Impact, caveats, roadmap</a:t>
            </a:r>
          </a:p>
          <a:p>
            <a:pPr>
              <a:spcAft>
                <a:spcPts val="9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14:00-15:00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03520"/>
            <a:ext cx="10789920" cy="914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5413248"/>
            <a:ext cx="10469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900">
                <a:solidFill>
                  <a:srgbClr val="133A66"/>
                </a:solidFill>
                <a:latin typeface="Aptos"/>
              </a:defRPr>
            </a:pPr>
            <a:r>
              <a:t>Speaking split suggestion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779008"/>
            <a:ext cx="10469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Speaker A: business context | Speaker B: technical pipeline | Speaker C: demo + impact +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Time and role clarity improves delivery score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F2C59"/>
                </a:solidFill>
                <a:latin typeface="Aptos Display"/>
              </a:defRPr>
            </a:pPr>
            <a:r>
              <a:t>References and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83080"/>
            <a:ext cx="237744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MSIS 521 assignment brief and evaluation rubric (Canvas)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YouTube Data API documentation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scikit-learn documentation (regression, tree models, GroupKFold)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LightGBM documentation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SHAP documentation</a:t>
            </a:r>
          </a:p>
          <a:p>
            <a:pPr>
              <a:spcAft>
                <a:spcPts val="900"/>
              </a:spcAft>
              <a:defRPr sz="1900">
                <a:solidFill>
                  <a:srgbClr val="1C2D46"/>
                </a:solidFill>
                <a:latin typeface="Aptos"/>
              </a:defRPr>
            </a:pPr>
            <a:r>
              <a:t>Streamlit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05696"/>
                </a:solidFill>
                <a:latin typeface="Aptos Display"/>
              </a:defRPr>
            </a:pPr>
            <a:r>
              <a:t>Thank you. 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28232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8098"/>
                </a:solidFill>
                <a:latin typeface="Aptos"/>
              </a:defRPr>
            </a:pPr>
            <a:r>
              <a:t>AI-MCN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