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liceEom/AI_MCN" TargetMode="External"/><Relationship Id="rId3" Type="http://schemas.openxmlformats.org/officeDocument/2006/relationships/hyperlink" Target="https://www.emarketer.com/press-releases/us-influencer-marketing-spending-will-surpass-10-billion-in-2025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upport.google.com/youtube/answer/106934?hl=en-EN" TargetMode="External"/><Relationship Id="rId3" Type="http://schemas.openxmlformats.org/officeDocument/2006/relationships/hyperlink" Target="https://support.google.com/youtube/answer/7296308?hl=en-GB" TargetMode="External"/><Relationship Id="rId4" Type="http://schemas.openxmlformats.org/officeDocument/2006/relationships/hyperlink" Target="https://www.iab.com/news/creator-economy-ad-spend-to-reach-37-billion-in-2025-growing-4x-faster-than-total-media-industry-according-to-iab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emarketer.com/press-releases/us-influencer-marketing-spending-will-surpass-10-billion-in-2025/" TargetMode="External"/><Relationship Id="rId3" Type="http://schemas.openxmlformats.org/officeDocument/2006/relationships/hyperlink" Target="https://nielseniq.com/global/en/news-center/2025/niq-reports-7-3-year-over-year-value-growth-in-global-beauty-sector/" TargetMode="External"/><Relationship Id="rId4" Type="http://schemas.openxmlformats.org/officeDocument/2006/relationships/hyperlink" Target="https://www.mckinsey.com/industries/consumer-packaged-goods/our-insights/a-close-look-at-the-global-beauty-industry-in-2025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ashionista.com/2024/11/beauty-of-joseon-k-beauty-skin-care-us-launch-strategy" TargetMode="External"/><Relationship Id="rId3" Type="http://schemas.openxmlformats.org/officeDocument/2006/relationships/hyperlink" Target="https://beautyofjoseon.com/pages/rice-wonderland" TargetMode="External"/><Relationship Id="rId4" Type="http://schemas.openxmlformats.org/officeDocument/2006/relationships/hyperlink" Target="https://www.fda.gov/drugs/guidance-compliance-regulatory-information/sunscreen-innovation-act-sia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evelopers.google.com/youtube/v3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cikit-learn.org/stable/modules/generated/sklearn.model_selection.GroupKFold.html" TargetMode="External"/><Relationship Id="rId3" Type="http://schemas.openxmlformats.org/officeDocument/2006/relationships/hyperlink" Target="https://lightgbm.readthedocs.io/en/latest/" TargetMode="External"/><Relationship Id="rId4" Type="http://schemas.openxmlformats.org/officeDocument/2006/relationships/hyperlink" Target="https://shap.readthedocs.io/en/latest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ftc.gov/influencers" TargetMode="External"/><Relationship Id="rId3" Type="http://schemas.openxmlformats.org/officeDocument/2006/relationships/hyperlink" Target="https://www.ftc.gov/business-guidance/resources/ftcs-endorsement-guides" TargetMode="External"/><Relationship Id="rId4" Type="http://schemas.openxmlformats.org/officeDocument/2006/relationships/hyperlink" Target="https://support.google.com/youtube/answer/7296308?hl=en-GB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lightgbm.readthedocs.io/en/latest/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docs.streamlit.io/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ab.com/news/creator-economy-ad-spend-to-reach-37-billion-in-2025-growing-4x-faster-than-total-media-industry-according-to-iab/" TargetMode="External"/><Relationship Id="rId3" Type="http://schemas.openxmlformats.org/officeDocument/2006/relationships/hyperlink" Target="https://blog.youtube/news-and-events/2024-us-youtube-impact-report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ftc.gov/influencers" TargetMode="External"/><Relationship Id="rId3" Type="http://schemas.openxmlformats.org/officeDocument/2006/relationships/hyperlink" Target="https://www.congress.gov/bill/119th-congress/house-bill/3686" TargetMode="External"/><Relationship Id="rId4" Type="http://schemas.openxmlformats.org/officeDocument/2006/relationships/hyperlink" Target="https://www.fda.gov/drugs/guidance-compliance-regulatory-information/sunscreen-innovation-act-sia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latform.openai.com/docs/overview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emarketer.com/press-releases/us-influencer-marketing-spending-will-surpass-10-billion-in-2025/" TargetMode="External"/><Relationship Id="rId3" Type="http://schemas.openxmlformats.org/officeDocument/2006/relationships/hyperlink" Target="https://nielseniq.com/global/en/news-center/2025/niq-reports-7-3-year-over-year-value-growth-in-global-beauty-sector/" TargetMode="External"/><Relationship Id="rId4" Type="http://schemas.openxmlformats.org/officeDocument/2006/relationships/hyperlink" Target="https://www.mckinsey.com/industries/consumer-packaged-goods/our-insights/a-close-look-at-the-global-beauty-industry-in-2025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scikit-learn.org/stable/modules/generated/sklearn.model_selection.GroupKFold.html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ab.com/news/creator-economy-ad-spend-to-reach-37-billion-in-2025-growing-4x-faster-than-total-media-industry-according-to-iab/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ab.com/news/creator-economy-ad-spend-to-reach-37-billion-in-2025-growing-4x-faster-than-total-media-industry-according-to-iab/" TargetMode="External"/><Relationship Id="rId3" Type="http://schemas.openxmlformats.org/officeDocument/2006/relationships/hyperlink" Target="https://www.emarketer.com/press-releases/us-influencer-marketing-spending-will-surpass-10-billion-in-2025/" TargetMode="External"/><Relationship Id="rId4" Type="http://schemas.openxmlformats.org/officeDocument/2006/relationships/hyperlink" Target="https://sproutsocial.com/insights/data/social-media-teams-wear-many-hats-to-reach-business-goals/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ftc.gov/influencers" TargetMode="External"/><Relationship Id="rId3" Type="http://schemas.openxmlformats.org/officeDocument/2006/relationships/hyperlink" Target="https://www.ftc.gov/business-guidance/resources/ftcs-endorsement-guides" TargetMode="External"/><Relationship Id="rId4" Type="http://schemas.openxmlformats.org/officeDocument/2006/relationships/hyperlink" Target="https://www.fda.gov/drugs/guidance-compliance-regulatory-information/sunscreen-innovation-act-sia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latform.openai.com/docs/overview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emarketer.com/press-releases/us-influencer-marketing-spending-will-surpass-10-billion-in-2025/" TargetMode="External"/><Relationship Id="rId3" Type="http://schemas.openxmlformats.org/officeDocument/2006/relationships/hyperlink" Target="https://www.iab.com/news/creator-economy-ad-spend-to-reach-37-billion-in-2025-growing-4x-faster-than-total-media-industry-according-to-iab/" TargetMode="External"/><Relationship Id="rId4" Type="http://schemas.openxmlformats.org/officeDocument/2006/relationships/hyperlink" Target="https://nielseniq.com/global/en/news-center/2025/niq-reports-7-3-year-over-year-value-growth-in-global-beauty-sector/" TargetMode="External"/><Relationship Id="rId5" Type="http://schemas.openxmlformats.org/officeDocument/2006/relationships/hyperlink" Target="https://www.mckinsey.com/industries/consumer-packaged-goods/our-insights/a-close-look-at-the-global-beauty-industry-in-2025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2C59"/>
                </a:solidFill>
                <a:latin typeface="Aptos Display"/>
              </a:defRPr>
            </a:pPr>
            <a:r>
              <a:t>AI-MCN: Replacing Traditional MCN Matching with an AI Decision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70432"/>
            <a:ext cx="10789920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4A5F80"/>
                </a:solidFill>
                <a:latin typeface="Aptos"/>
              </a:defRPr>
            </a:pPr>
            <a:r>
              <a:t>MSIS 521 Course Project | 15-minute Presentation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755648"/>
            <a:ext cx="265176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01168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300">
                <a:solidFill>
                  <a:srgbClr val="1C2D46"/>
                </a:solidFill>
                <a:latin typeface="Aptos"/>
              </a:defRPr>
            </a:pPr>
            <a:r>
              <a:t>Client case: Beauty of Joseon (BOJ), U.S. sunscreen campaign</a:t>
            </a:r>
          </a:p>
          <a:p>
            <a:pPr>
              <a:spcAft>
                <a:spcPts val="800"/>
              </a:spcAft>
              <a:defRPr sz="2300">
                <a:solidFill>
                  <a:srgbClr val="1C2D46"/>
                </a:solidFill>
                <a:latin typeface="Aptos"/>
              </a:defRPr>
            </a:pPr>
            <a:r>
              <a:t>Goal: help brands find best-fit influencers directly with transparent AI logic</a:t>
            </a:r>
          </a:p>
          <a:p>
            <a:pPr>
              <a:spcAft>
                <a:spcPts val="800"/>
              </a:spcAft>
              <a:defRPr sz="2300">
                <a:solidFill>
                  <a:srgbClr val="1C2D46"/>
                </a:solidFill>
                <a:latin typeface="Aptos"/>
              </a:defRPr>
            </a:pPr>
            <a:r>
              <a:t>Team: [Add names]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28232"/>
            <a:ext cx="85039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6E8098"/>
                </a:solidFill>
                <a:latin typeface="Aptos"/>
              </a:rPr>
              <a:t>Sources: </a:t>
            </a:r>
            <a:r>
              <a:rPr sz="850" u="sng">
                <a:solidFill>
                  <a:srgbClr val="1A7DBC"/>
                </a:solidFill>
                <a:latin typeface="Aptos"/>
                <a:hlinkClick r:id="rId2"/>
              </a:rPr>
              <a:t>GitHub repo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 u="sng">
                <a:solidFill>
                  <a:srgbClr val="1A7DBC"/>
                </a:solidFill>
                <a:latin typeface="Aptos"/>
                <a:hlinkClick r:id="rId3"/>
              </a:rPr>
              <a:t>EMARKETER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89720" y="6428232"/>
            <a:ext cx="2514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8098"/>
                </a:solidFill>
                <a:latin typeface="Aptos"/>
              </a:defRPr>
            </a:pPr>
            <a:r>
              <a:t>Section 1 | Title and Team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2C59"/>
                </a:solidFill>
                <a:latin typeface="Aptos Display"/>
              </a:defRPr>
            </a:pPr>
            <a:r>
              <a:t>Agenda and Timing (Professor Guide)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55648"/>
            <a:ext cx="265176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192024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1C2D46"/>
                </a:solidFill>
                <a:latin typeface="Aptos"/>
              </a:defRPr>
            </a:pPr>
            <a:r>
              <a:t>1) Title and team (1 min)</a:t>
            </a:r>
          </a:p>
          <a:p>
            <a:pPr>
              <a:spcAft>
                <a:spcPts val="800"/>
              </a:spcAft>
              <a:defRPr sz="2100">
                <a:solidFill>
                  <a:srgbClr val="1C2D46"/>
                </a:solidFill>
                <a:latin typeface="Aptos"/>
              </a:defRPr>
            </a:pPr>
            <a:r>
              <a:t>2) Business context and problem (2-3 min)</a:t>
            </a:r>
          </a:p>
          <a:p>
            <a:pPr>
              <a:spcAft>
                <a:spcPts val="800"/>
              </a:spcAft>
              <a:defRPr sz="2100">
                <a:solidFill>
                  <a:srgbClr val="1C2D46"/>
                </a:solidFill>
                <a:latin typeface="Aptos"/>
              </a:defRPr>
            </a:pPr>
            <a:r>
              <a:t>3) Data and features (1-3 min)</a:t>
            </a:r>
          </a:p>
          <a:p>
            <a:pPr>
              <a:spcAft>
                <a:spcPts val="800"/>
              </a:spcAft>
              <a:defRPr sz="2100">
                <a:solidFill>
                  <a:srgbClr val="1C2D46"/>
                </a:solidFill>
                <a:latin typeface="Aptos"/>
              </a:defRPr>
            </a:pPr>
            <a:r>
              <a:t>4) AI/ML approach (3-4 min)</a:t>
            </a:r>
          </a:p>
          <a:p>
            <a:pPr>
              <a:spcAft>
                <a:spcPts val="800"/>
              </a:spcAft>
              <a:defRPr sz="2100">
                <a:solidFill>
                  <a:srgbClr val="1C2D46"/>
                </a:solidFill>
                <a:latin typeface="Aptos"/>
              </a:defRPr>
            </a:pPr>
            <a:r>
              <a:t>5) Prototype demo (3-4 min)</a:t>
            </a:r>
          </a:p>
          <a:p>
            <a:pPr>
              <a:spcAft>
                <a:spcPts val="800"/>
              </a:spcAft>
              <a:defRPr sz="2100">
                <a:solidFill>
                  <a:srgbClr val="1C2D46"/>
                </a:solidFill>
                <a:latin typeface="Aptos"/>
              </a:defRPr>
            </a:pPr>
            <a:r>
              <a:t>6) Impact, limitations, next steps (2-3 min)</a:t>
            </a:r>
          </a:p>
          <a:p>
            <a:pPr>
              <a:spcAft>
                <a:spcPts val="800"/>
              </a:spcAft>
              <a:defRPr sz="2100">
                <a:solidFill>
                  <a:srgbClr val="1C2D46"/>
                </a:solidFill>
                <a:latin typeface="Aptos"/>
              </a:defRPr>
            </a:pPr>
            <a:r>
              <a:t>7) How we used AI tools (1-2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28232"/>
            <a:ext cx="85039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6E8098"/>
                </a:solidFill>
                <a:latin typeface="Aptos"/>
              </a:rPr>
              <a:t>Sources: </a:t>
            </a:r>
            <a:r>
              <a:rPr sz="850">
                <a:solidFill>
                  <a:srgbClr val="6E8098"/>
                </a:solidFill>
                <a:latin typeface="Aptos"/>
              </a:rPr>
              <a:t>MSIS 521 assignment/rubric (internal PDFs)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89720" y="6428232"/>
            <a:ext cx="2514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8098"/>
                </a:solidFill>
                <a:latin typeface="Aptos"/>
              </a:defRPr>
            </a:pPr>
            <a:r>
              <a:t>Section 2 | Roadmap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2C59"/>
                </a:solidFill>
                <a:latin typeface="Aptos Display"/>
              </a:defRPr>
            </a:pPr>
            <a:r>
              <a:t>Business Context and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55648"/>
            <a:ext cx="265176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1828800"/>
            <a:ext cx="5440680" cy="438912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38528"/>
            <a:ext cx="5166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133A66"/>
                </a:solidFill>
                <a:latin typeface="Aptos"/>
              </a:defRPr>
            </a:pPr>
            <a:r>
              <a:t>Current MCN-Style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267712"/>
            <a:ext cx="5184648" cy="3858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MCNs aggregate influencer data and broker brand-creator matching.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Brands pay agency/management fees plus campaign budget.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Matching logic is often hard to audit for brand teams.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828800"/>
            <a:ext cx="5440680" cy="438912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27648" y="1938528"/>
            <a:ext cx="5166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133A66"/>
                </a:solidFill>
                <a:latin typeface="Aptos"/>
              </a:defRPr>
            </a:pPr>
            <a:r>
              <a:t>Decision We Improve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59" y="2267712"/>
            <a:ext cx="5184648" cy="3858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From manual or popularity-led creator selection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To evidence-based, product-specific creator ranking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Goal: reduce expensive mismatch risk before launch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28232"/>
            <a:ext cx="85039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6E8098"/>
                </a:solidFill>
                <a:latin typeface="Aptos"/>
              </a:rPr>
              <a:t>Sources: </a:t>
            </a:r>
            <a:r>
              <a:rPr sz="850" u="sng">
                <a:solidFill>
                  <a:srgbClr val="1A7DBC"/>
                </a:solidFill>
                <a:latin typeface="Aptos"/>
                <a:hlinkClick r:id="rId2"/>
              </a:rPr>
              <a:t>YouTube Content Manager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 u="sng">
                <a:solidFill>
                  <a:srgbClr val="1A7DBC"/>
                </a:solidFill>
                <a:latin typeface="Aptos"/>
                <a:hlinkClick r:id="rId3"/>
              </a:rPr>
              <a:t>YouTube MCN setup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 u="sng">
                <a:solidFill>
                  <a:srgbClr val="1A7DBC"/>
                </a:solidFill>
                <a:latin typeface="Aptos"/>
                <a:hlinkClick r:id="rId4"/>
              </a:rPr>
              <a:t>IAB Creator Economy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89720" y="6428232"/>
            <a:ext cx="2514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8098"/>
                </a:solidFill>
                <a:latin typeface="Aptos"/>
              </a:defRPr>
            </a:pPr>
            <a:r>
              <a:t>Section 3 | Context and Decision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2C59"/>
                </a:solidFill>
                <a:latin typeface="Aptos Display"/>
              </a:defRPr>
            </a:pPr>
            <a:r>
              <a:t>Why Now: Market Evidence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55648"/>
            <a:ext cx="265176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C2D46"/>
                </a:solidFill>
                <a:latin typeface="Aptos"/>
              </a:defRPr>
            </a:pPr>
            <a:r>
              <a:t>US influencer marketing spend is projected at $10.52B in 2025 (EMARKETER, Mar 13, 2025).</a:t>
            </a:r>
          </a:p>
          <a:p>
            <a:pPr>
              <a:spcAft>
                <a:spcPts val="800"/>
              </a:spcAft>
              <a:defRPr sz="1800">
                <a:solidFill>
                  <a:srgbClr val="1C2D46"/>
                </a:solidFill>
                <a:latin typeface="Aptos"/>
              </a:defRPr>
            </a:pPr>
            <a:r>
              <a:t>YouTube influencer use among US marketers is projected to exceed 50% in 2025 (EMARKETER).</a:t>
            </a:r>
          </a:p>
          <a:p>
            <a:pPr>
              <a:spcAft>
                <a:spcPts val="800"/>
              </a:spcAft>
              <a:defRPr sz="1800">
                <a:solidFill>
                  <a:srgbClr val="1C2D46"/>
                </a:solidFill>
                <a:latin typeface="Aptos"/>
              </a:defRPr>
            </a:pPr>
            <a:r>
              <a:t>Global beauty grew 7.3% YoY in 2025; US beauty sales are 41% e-commerce (NIQ, Feb 25, 2025).</a:t>
            </a:r>
          </a:p>
          <a:p>
            <a:pPr>
              <a:spcAft>
                <a:spcPts val="800"/>
              </a:spcAft>
              <a:defRPr sz="1800">
                <a:solidFill>
                  <a:srgbClr val="1C2D46"/>
                </a:solidFill>
                <a:latin typeface="Aptos"/>
              </a:defRPr>
            </a:pPr>
            <a:r>
              <a:t>McKinsey projects core beauty segments to reach about $590B by 2030, with skincare as the largest segment (Aug 28, 2025).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28232"/>
            <a:ext cx="85039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6E8098"/>
                </a:solidFill>
                <a:latin typeface="Aptos"/>
              </a:rPr>
              <a:t>Sources: </a:t>
            </a:r>
            <a:r>
              <a:rPr sz="850" u="sng">
                <a:solidFill>
                  <a:srgbClr val="1A7DBC"/>
                </a:solidFill>
                <a:latin typeface="Aptos"/>
                <a:hlinkClick r:id="rId2"/>
              </a:rPr>
              <a:t>EMARKETER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 u="sng">
                <a:solidFill>
                  <a:srgbClr val="1A7DBC"/>
                </a:solidFill>
                <a:latin typeface="Aptos"/>
                <a:hlinkClick r:id="rId3"/>
              </a:rPr>
              <a:t>NIQ Beauty 2025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 u="sng">
                <a:solidFill>
                  <a:srgbClr val="1A7DBC"/>
                </a:solidFill>
                <a:latin typeface="Aptos"/>
                <a:hlinkClick r:id="rId4"/>
              </a:rPr>
              <a:t>McKinsey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89720" y="6428232"/>
            <a:ext cx="2514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8098"/>
                </a:solidFill>
                <a:latin typeface="Aptos"/>
              </a:defRPr>
            </a:pPr>
            <a:r>
              <a:t>Section 3 | External Industry Context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2C59"/>
                </a:solidFill>
                <a:latin typeface="Aptos Display"/>
              </a:defRPr>
            </a:pPr>
            <a:r>
              <a:t>Why Beauty and Why BOJ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55648"/>
            <a:ext cx="265176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1828800"/>
            <a:ext cx="5440680" cy="434340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38528"/>
            <a:ext cx="5166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133A66"/>
                </a:solidFill>
                <a:latin typeface="Aptos"/>
              </a:defRPr>
            </a:pPr>
            <a:r>
              <a:t>Case Fit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267712"/>
            <a:ext cx="5184648" cy="3813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Beauty creator marketing is large and highly content-driven.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BOJ has visible social momentum and a product-specific campaign story.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BOJ U.S. expansion + sunscreen focus make a practical demo scenario.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(Fashionista coverage, Nov 13, 2024)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828800"/>
            <a:ext cx="5440680" cy="434340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27648" y="1938528"/>
            <a:ext cx="5166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133A66"/>
                </a:solidFill>
                <a:latin typeface="Aptos"/>
              </a:defRPr>
            </a:pPr>
            <a:r>
              <a:t>Dataset Feasibility Signals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59" y="2267712"/>
            <a:ext cx="5184648" cy="3813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Source file: videos_text_ready_combined.csv (n=67,283 videos)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sunscreen: 3,981 videos | 340 channels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spf: 3,850 videos | 344 channels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beauty of joseon: 286 videos | 69 channels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cerave: 747 videos | 118 channels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28232"/>
            <a:ext cx="85039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6E8098"/>
                </a:solidFill>
                <a:latin typeface="Aptos"/>
              </a:rPr>
              <a:t>Sources: </a:t>
            </a:r>
            <a:r>
              <a:rPr sz="850" u="sng">
                <a:solidFill>
                  <a:srgbClr val="1A7DBC"/>
                </a:solidFill>
                <a:latin typeface="Aptos"/>
                <a:hlinkClick r:id="rId2"/>
              </a:rPr>
              <a:t>Fashionista BOJ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 u="sng">
                <a:solidFill>
                  <a:srgbClr val="1A7DBC"/>
                </a:solidFill>
                <a:latin typeface="Aptos"/>
                <a:hlinkClick r:id="rId3"/>
              </a:rPr>
              <a:t>BOJ Rice Wonderland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 u="sng">
                <a:solidFill>
                  <a:srgbClr val="1A7DBC"/>
                </a:solidFill>
                <a:latin typeface="Aptos"/>
                <a:hlinkClick r:id="rId4"/>
              </a:rPr>
              <a:t>FDA SIA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89720" y="6428232"/>
            <a:ext cx="2514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8098"/>
                </a:solidFill>
                <a:latin typeface="Aptos"/>
              </a:defRPr>
            </a:pPr>
            <a:r>
              <a:t>Section 3 | Client and Case Selection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2C59"/>
                </a:solidFill>
                <a:latin typeface="Aptos Display"/>
              </a:defRPr>
            </a:pPr>
            <a:r>
              <a:t>Data and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55648"/>
            <a:ext cx="265176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5486400" cy="429768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938528"/>
            <a:ext cx="5212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133A66"/>
                </a:solidFill>
                <a:latin typeface="Aptos"/>
              </a:defRPr>
            </a:pPr>
            <a:r>
              <a:t>Data Used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1" y="2267712"/>
            <a:ext cx="5230368" cy="376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Team-collected YouTube API exports (videos/comments/channel fields)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Videos analyzed (full run): 42,750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Channels scored: 1,089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Main files: videos_text_ready, comments_raw, master_prd_slim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828800"/>
            <a:ext cx="5394960" cy="429768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938528"/>
            <a:ext cx="5120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133A66"/>
                </a:solidFill>
                <a:latin typeface="Aptos"/>
              </a:defRPr>
            </a:pPr>
            <a:r>
              <a:t>Feature Groups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2267712"/>
            <a:ext cx="5138928" cy="376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Network features: centrality + community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Text features: TF-IDF + semantic/tone alignment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Behavioral features: views/likes/comments/engagement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Reliability features: evidence score + credibility multiplier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28232"/>
            <a:ext cx="85039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6E8098"/>
                </a:solidFill>
                <a:latin typeface="Aptos"/>
              </a:rPr>
              <a:t>Sources: </a:t>
            </a:r>
            <a:r>
              <a:rPr sz="850" u="sng">
                <a:solidFill>
                  <a:srgbClr val="1A7DBC"/>
                </a:solidFill>
                <a:latin typeface="Aptos"/>
                <a:hlinkClick r:id="rId2"/>
              </a:rPr>
              <a:t>YouTube Data API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>
                <a:solidFill>
                  <a:srgbClr val="6E8098"/>
                </a:solidFill>
                <a:latin typeface="Aptos"/>
              </a:rPr>
              <a:t>Project data files (internal)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89720" y="6428232"/>
            <a:ext cx="2514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8098"/>
                </a:solidFill>
                <a:latin typeface="Aptos"/>
              </a:defRPr>
            </a:pPr>
            <a:r>
              <a:t>Section 4 | Data and Feature Engineering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2C59"/>
                </a:solidFill>
                <a:latin typeface="Aptos Display"/>
              </a:defRPr>
            </a:pPr>
            <a:r>
              <a:t>Preprocessing and EDA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55648"/>
            <a:ext cx="265176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mmunity_distribution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28800"/>
            <a:ext cx="8686800" cy="43891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0" y="1828800"/>
            <a:ext cx="4114800" cy="438912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79" y="1938528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133A66"/>
                </a:solidFill>
                <a:latin typeface="Aptos"/>
              </a:defRPr>
            </a:pPr>
            <a:r>
              <a:t>What we did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79792" y="2267712"/>
            <a:ext cx="3858768" cy="3858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C2D46"/>
                </a:solidFill>
                <a:latin typeface="Aptos"/>
              </a:defRPr>
            </a:pPr>
            <a:r>
              <a:t>Deduplication + type normalization</a:t>
            </a:r>
          </a:p>
          <a:p>
            <a:pPr>
              <a:spcAft>
                <a:spcPts val="800"/>
              </a:spcAft>
              <a:defRPr sz="1400">
                <a:solidFill>
                  <a:srgbClr val="1C2D46"/>
                </a:solidFill>
                <a:latin typeface="Aptos"/>
              </a:defRPr>
            </a:pPr>
            <a:r>
              <a:t>Beauty include filter + non-beauty noise exclusion</a:t>
            </a:r>
          </a:p>
          <a:p>
            <a:pPr>
              <a:spcAft>
                <a:spcPts val="800"/>
              </a:spcAft>
              <a:defRPr sz="1400">
                <a:solidFill>
                  <a:srgbClr val="1C2D46"/>
                </a:solidFill>
                <a:latin typeface="Aptos"/>
              </a:defRPr>
            </a:pPr>
            <a:r>
              <a:t>Channel-level aggregation and recency features</a:t>
            </a:r>
          </a:p>
          <a:p>
            <a:pPr>
              <a:spcAft>
                <a:spcPts val="800"/>
              </a:spcAft>
              <a:defRPr sz="1400">
                <a:solidFill>
                  <a:srgbClr val="1C2D46"/>
                </a:solidFill>
                <a:latin typeface="Aptos"/>
              </a:defRPr>
            </a:pPr>
            <a:r>
              <a:t>EDA confirmed cluster concentration -&gt; diversity guardrail needed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28232"/>
            <a:ext cx="85039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6E8098"/>
                </a:solidFill>
                <a:latin typeface="Aptos"/>
              </a:rPr>
              <a:t>Sources: </a:t>
            </a:r>
            <a:r>
              <a:rPr sz="850">
                <a:solidFill>
                  <a:srgbClr val="6E8098"/>
                </a:solidFill>
                <a:latin typeface="Aptos"/>
              </a:rPr>
              <a:t>Preprocessing pipeline (internal)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>
                <a:solidFill>
                  <a:srgbClr val="6E8098"/>
                </a:solidFill>
                <a:latin typeface="Aptos"/>
              </a:rPr>
              <a:t>EDA plots (internal)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89720" y="6428232"/>
            <a:ext cx="2514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8098"/>
                </a:solidFill>
                <a:latin typeface="Aptos"/>
              </a:defRPr>
            </a:pPr>
            <a:r>
              <a:t>Section 4 | Data Understanding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2C59"/>
                </a:solidFill>
                <a:latin typeface="Aptos Display"/>
              </a:defRPr>
            </a:pPr>
            <a:r>
              <a:t>AI/ML Approach (Class-Learned Methods Focus)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55648"/>
            <a:ext cx="265176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C2D46"/>
                </a:solidFill>
                <a:latin typeface="Aptos"/>
              </a:defRPr>
            </a:pPr>
            <a:r>
              <a:t>1) Social Network Analysis: creator graph, centrality, communities</a:t>
            </a:r>
          </a:p>
          <a:p>
            <a:pPr>
              <a:spcAft>
                <a:spcPts val="800"/>
              </a:spcAft>
              <a:defRPr sz="1800">
                <a:solidFill>
                  <a:srgbClr val="1C2D46"/>
                </a:solidFill>
                <a:latin typeface="Aptos"/>
              </a:defRPr>
            </a:pPr>
            <a:r>
              <a:t>2) Text Analytics: TF-IDF relevance + semantic/tone enrichment</a:t>
            </a:r>
          </a:p>
          <a:p>
            <a:pPr>
              <a:spcAft>
                <a:spcPts val="800"/>
              </a:spcAft>
              <a:defRPr sz="1800">
                <a:solidFill>
                  <a:srgbClr val="1C2D46"/>
                </a:solidFill>
                <a:latin typeface="Aptos"/>
              </a:defRPr>
            </a:pPr>
            <a:r>
              <a:t>3) Supervised Regression: Linear, LASSO, Ridge, CART, RandomForest, LightGBM</a:t>
            </a:r>
          </a:p>
          <a:p>
            <a:pPr>
              <a:spcAft>
                <a:spcPts val="800"/>
              </a:spcAft>
              <a:defRPr sz="1800">
                <a:solidFill>
                  <a:srgbClr val="1C2D46"/>
                </a:solidFill>
                <a:latin typeface="Aptos"/>
              </a:defRPr>
            </a:pPr>
            <a:r>
              <a:t>4) Validation: GroupKFold(5) by channel to reduce leakage</a:t>
            </a:r>
          </a:p>
          <a:p>
            <a:pPr>
              <a:spcAft>
                <a:spcPts val="800"/>
              </a:spcAft>
              <a:defRPr sz="1800">
                <a:solidFill>
                  <a:srgbClr val="1C2D46"/>
                </a:solidFill>
                <a:latin typeface="Aptos"/>
              </a:defRPr>
            </a:pPr>
            <a:r>
              <a:t>5) Explainability: SHAP for feature contribution</a:t>
            </a:r>
          </a:p>
          <a:p>
            <a:pPr>
              <a:spcAft>
                <a:spcPts val="800"/>
              </a:spcAft>
              <a:defRPr sz="1800">
                <a:solidFill>
                  <a:srgbClr val="1C2D46"/>
                </a:solidFill>
                <a:latin typeface="Aptos"/>
              </a:defRPr>
            </a:pPr>
            <a:r>
              <a:t>Extensions shown in demo: ROI simulator, strategy and memo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28232"/>
            <a:ext cx="85039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6E8098"/>
                </a:solidFill>
                <a:latin typeface="Aptos"/>
              </a:rPr>
              <a:t>Sources: </a:t>
            </a:r>
            <a:r>
              <a:rPr sz="850" u="sng">
                <a:solidFill>
                  <a:srgbClr val="1A7DBC"/>
                </a:solidFill>
                <a:latin typeface="Aptos"/>
                <a:hlinkClick r:id="rId2"/>
              </a:rPr>
              <a:t>GroupKFold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 u="sng">
                <a:solidFill>
                  <a:srgbClr val="1A7DBC"/>
                </a:solidFill>
                <a:latin typeface="Aptos"/>
                <a:hlinkClick r:id="rId3"/>
              </a:rPr>
              <a:t>LightGBM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 u="sng">
                <a:solidFill>
                  <a:srgbClr val="1A7DBC"/>
                </a:solidFill>
                <a:latin typeface="Aptos"/>
                <a:hlinkClick r:id="rId4"/>
              </a:rPr>
              <a:t>SHAP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89720" y="6428232"/>
            <a:ext cx="2514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8098"/>
                </a:solidFill>
                <a:latin typeface="Aptos"/>
              </a:defRPr>
            </a:pPr>
            <a:r>
              <a:t>Section 5 | Methods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2C59"/>
                </a:solidFill>
                <a:latin typeface="Aptos Display"/>
              </a:defRPr>
            </a:pPr>
            <a:r>
              <a:t>Why This Method Mix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55648"/>
            <a:ext cx="265176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1828800"/>
            <a:ext cx="5440680" cy="438912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38528"/>
            <a:ext cx="5166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133A66"/>
                </a:solidFill>
                <a:latin typeface="Aptos"/>
              </a:defRPr>
            </a:pPr>
            <a:r>
              <a:t>Why not follower-count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267712"/>
            <a:ext cx="5184648" cy="3858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Misses campaign-language fit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Misses network position and community overlap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Misses quality/reliability signals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High chance of expensive creator mismatch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828800"/>
            <a:ext cx="5440680" cy="438912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27648" y="1938528"/>
            <a:ext cx="5166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133A66"/>
                </a:solidFill>
                <a:latin typeface="Aptos"/>
              </a:defRPr>
            </a:pPr>
            <a:r>
              <a:t>Hybrid ranking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59" y="2267712"/>
            <a:ext cx="5184648" cy="3858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Network influence + text fit + engagement potential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Reliability multiplier to penalize low-signal channels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Diversity constraint for healthier final shortlist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More robust than single-signal ranking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28232"/>
            <a:ext cx="85039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6E8098"/>
                </a:solidFill>
                <a:latin typeface="Aptos"/>
              </a:rPr>
              <a:t>Sources: </a:t>
            </a:r>
            <a:r>
              <a:rPr sz="850" u="sng">
                <a:solidFill>
                  <a:srgbClr val="1A7DBC"/>
                </a:solidFill>
                <a:latin typeface="Aptos"/>
                <a:hlinkClick r:id="rId2"/>
              </a:rPr>
              <a:t>FTC Influencers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 u="sng">
                <a:solidFill>
                  <a:srgbClr val="1A7DBC"/>
                </a:solidFill>
                <a:latin typeface="Aptos"/>
                <a:hlinkClick r:id="rId3"/>
              </a:rPr>
              <a:t>FTC Endorsement Guides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 u="sng">
                <a:solidFill>
                  <a:srgbClr val="1A7DBC"/>
                </a:solidFill>
                <a:latin typeface="Aptos"/>
                <a:hlinkClick r:id="rId4"/>
              </a:rPr>
              <a:t>YouTube MCN reference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89720" y="6428232"/>
            <a:ext cx="2514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8098"/>
                </a:solidFill>
                <a:latin typeface="Aptos"/>
              </a:defRPr>
            </a:pPr>
            <a:r>
              <a:t>Section 5 | Method Choice Rationale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2C59"/>
                </a:solidFill>
                <a:latin typeface="Aptos Display"/>
              </a:defRPr>
            </a:pPr>
            <a:r>
              <a:t>Model Results and Validation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55648"/>
            <a:ext cx="265176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odel_benchmark_rm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28800"/>
            <a:ext cx="8500110" cy="44348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0" y="1828800"/>
            <a:ext cx="4069080" cy="443484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79" y="1938528"/>
            <a:ext cx="37947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133A66"/>
                </a:solidFill>
                <a:latin typeface="Aptos"/>
              </a:defRPr>
            </a:pPr>
            <a:r>
              <a:t>Best model: LightGBM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79792" y="2267712"/>
            <a:ext cx="3813048" cy="3904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Best RMSE: 0.00996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Baseline RMSE: 0.03800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Relative RMSE reduction: 73.8%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Interpretation: meaningful uplift over naive 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28232"/>
            <a:ext cx="85039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6E8098"/>
                </a:solidFill>
                <a:latin typeface="Aptos"/>
              </a:rPr>
              <a:t>Sources: </a:t>
            </a:r>
            <a:r>
              <a:rPr sz="850">
                <a:solidFill>
                  <a:srgbClr val="6E8098"/>
                </a:solidFill>
                <a:latin typeface="Aptos"/>
              </a:rPr>
              <a:t>ML CV outputs (internal)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 u="sng">
                <a:solidFill>
                  <a:srgbClr val="1A7DBC"/>
                </a:solidFill>
                <a:latin typeface="Aptos"/>
                <a:hlinkClick r:id="rId3"/>
              </a:rPr>
              <a:t>LightGBM docs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89720" y="6428232"/>
            <a:ext cx="2514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8098"/>
                </a:solidFill>
                <a:latin typeface="Aptos"/>
              </a:defRPr>
            </a:pPr>
            <a:r>
              <a:t>Section 5 | Validation Output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2C59"/>
                </a:solidFill>
                <a:latin typeface="Aptos Display"/>
              </a:defRPr>
            </a:pPr>
            <a:r>
              <a:t>Prototype Demo: Input to Output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55648"/>
            <a:ext cx="265176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op10_final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20240"/>
            <a:ext cx="5029200" cy="2615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828800"/>
            <a:ext cx="5486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C2D46"/>
                </a:solidFill>
                <a:latin typeface="Aptos"/>
              </a:defRPr>
            </a:pPr>
            <a:r>
              <a:t>Live flow: campaign input -&gt; Top-N shortlist -&gt; rationale/risk</a:t>
            </a:r>
          </a:p>
          <a:p>
            <a:pPr>
              <a:spcAft>
                <a:spcPts val="800"/>
              </a:spcAft>
              <a:defRPr sz="1700">
                <a:solidFill>
                  <a:srgbClr val="1C2D46"/>
                </a:solidFill>
                <a:latin typeface="Aptos"/>
              </a:defRPr>
            </a:pPr>
            <a:r>
              <a:t>Interactive tabs: Network, Text Intelligence, ML, ROI</a:t>
            </a:r>
          </a:p>
          <a:p>
            <a:pPr>
              <a:spcAft>
                <a:spcPts val="800"/>
              </a:spcAft>
              <a:defRPr sz="1700">
                <a:solidFill>
                  <a:srgbClr val="1C2D46"/>
                </a:solidFill>
                <a:latin typeface="Aptos"/>
              </a:defRPr>
            </a:pPr>
            <a:r>
              <a:t>Use case A: BOJ sunscreen launch planning</a:t>
            </a:r>
          </a:p>
          <a:p>
            <a:pPr>
              <a:spcAft>
                <a:spcPts val="800"/>
              </a:spcAft>
              <a:defRPr sz="1700">
                <a:solidFill>
                  <a:srgbClr val="1C2D46"/>
                </a:solidFill>
                <a:latin typeface="Aptos"/>
              </a:defRPr>
            </a:pPr>
            <a:r>
              <a:t>Use case B: CeraVe benchmark for shortlist calibration</a:t>
            </a:r>
          </a:p>
          <a:p>
            <a:pPr>
              <a:spcAft>
                <a:spcPts val="800"/>
              </a:spcAft>
              <a:defRPr sz="1700">
                <a:solidFill>
                  <a:srgbClr val="1C2D46"/>
                </a:solidFill>
                <a:latin typeface="Aptos"/>
              </a:defRPr>
            </a:pPr>
            <a:r>
              <a:t>Decision output: ranked creators + risk notes + memo export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28232"/>
            <a:ext cx="85039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6E8098"/>
                </a:solidFill>
                <a:latin typeface="Aptos"/>
              </a:rPr>
              <a:t>Sources: </a:t>
            </a:r>
            <a:r>
              <a:rPr sz="850" u="sng">
                <a:solidFill>
                  <a:srgbClr val="1A7DBC"/>
                </a:solidFill>
                <a:latin typeface="Aptos"/>
                <a:hlinkClick r:id="rId3"/>
              </a:rPr>
              <a:t>Streamlit docs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>
                <a:solidFill>
                  <a:srgbClr val="6E8098"/>
                </a:solidFill>
                <a:latin typeface="Aptos"/>
              </a:rPr>
              <a:t>Prototype app/pipeline (internal)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89720" y="6428232"/>
            <a:ext cx="2514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8098"/>
                </a:solidFill>
                <a:latin typeface="Aptos"/>
              </a:defRPr>
            </a:pPr>
            <a:r>
              <a:t>Section 6 | Live Demo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2C59"/>
                </a:solidFill>
                <a:latin typeface="Aptos Display"/>
              </a:defRPr>
            </a:pPr>
            <a:r>
              <a:t>Business Impact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55648"/>
            <a:ext cx="265176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21792" y="1828800"/>
            <a:ext cx="5486400" cy="438912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938528"/>
            <a:ext cx="5212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133A66"/>
                </a:solidFill>
                <a:latin typeface="Aptos"/>
              </a:defRPr>
            </a:pPr>
            <a:r>
              <a:t>How this helps the client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2267712"/>
            <a:ext cx="5230368" cy="3858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Faster influencer shortlisting and campaign planning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Transparent recommendation logic for stakeholder trust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Reduced mismatch risk before spending budget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Scenario-based ROI planning and expectation setting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828800"/>
            <a:ext cx="5394960" cy="438912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938528"/>
            <a:ext cx="5120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133A66"/>
                </a:solidFill>
                <a:latin typeface="Aptos"/>
              </a:defRPr>
            </a:pPr>
            <a:r>
              <a:t>Decisions improved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2267712"/>
            <a:ext cx="5138928" cy="3858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Who to prioritize in outreach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How many creators to activate by objective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How much budget risk is acceptable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Base ROI scenario in run: 1.14x expected ROAS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28232"/>
            <a:ext cx="85039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6E8098"/>
                </a:solidFill>
                <a:latin typeface="Aptos"/>
              </a:rPr>
              <a:t>Sources: </a:t>
            </a:r>
            <a:r>
              <a:rPr sz="850" u="sng">
                <a:solidFill>
                  <a:srgbClr val="1A7DBC"/>
                </a:solidFill>
                <a:latin typeface="Aptos"/>
                <a:hlinkClick r:id="rId2"/>
              </a:rPr>
              <a:t>IAB Creator Economy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 u="sng">
                <a:solidFill>
                  <a:srgbClr val="1A7DBC"/>
                </a:solidFill>
                <a:latin typeface="Aptos"/>
                <a:hlinkClick r:id="rId3"/>
              </a:rPr>
              <a:t>YouTube U.S. Impact 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89720" y="6428232"/>
            <a:ext cx="2514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8098"/>
                </a:solidFill>
                <a:latin typeface="Aptos"/>
              </a:defRPr>
            </a:pPr>
            <a:r>
              <a:t>Section 7 | Business Value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2C59"/>
                </a:solidFill>
                <a:latin typeface="Aptos Display"/>
              </a:defRPr>
            </a:pPr>
            <a:r>
              <a:t>Limitations, Ethics, and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55648"/>
            <a:ext cx="265176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5440680" cy="438912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938528"/>
            <a:ext cx="5166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133A66"/>
                </a:solidFill>
                <a:latin typeface="Aptos"/>
              </a:defRPr>
            </a:pPr>
            <a:r>
              <a:t>Current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1" y="2267712"/>
            <a:ext cx="5184648" cy="3858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Pre-collected YouTube dataset (not live cross-platform feed)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ROI is scenario estimate, not causal proof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Remaining cluster concentration in skincare niches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Need larger-scale operational monitoring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828800"/>
            <a:ext cx="5440680" cy="438912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938528"/>
            <a:ext cx="5166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133A66"/>
                </a:solidFill>
                <a:latin typeface="Aptos"/>
              </a:defRPr>
            </a:pPr>
            <a:r>
              <a:t>Ethics and roadmap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2267712"/>
            <a:ext cx="5184648" cy="3858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Bias checks: degree-overlap diagnostics + evidence penalty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Privacy: no sensitive personal profiling in prototype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Next: live connectors + fairness constraints + pilot calibration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Target: weekly decision-support workflow for brand teams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28232"/>
            <a:ext cx="85039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6E8098"/>
                </a:solidFill>
                <a:latin typeface="Aptos"/>
              </a:rPr>
              <a:t>Sources: </a:t>
            </a:r>
            <a:r>
              <a:rPr sz="850" u="sng">
                <a:solidFill>
                  <a:srgbClr val="1A7DBC"/>
                </a:solidFill>
                <a:latin typeface="Aptos"/>
                <a:hlinkClick r:id="rId2"/>
              </a:rPr>
              <a:t>FTC Influencer Disclosures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 u="sng">
                <a:solidFill>
                  <a:srgbClr val="1A7DBC"/>
                </a:solidFill>
                <a:latin typeface="Aptos"/>
                <a:hlinkClick r:id="rId3"/>
              </a:rPr>
              <a:t>SAFE Sunscreen (House)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 u="sng">
                <a:solidFill>
                  <a:srgbClr val="1A7DBC"/>
                </a:solidFill>
                <a:latin typeface="Aptos"/>
                <a:hlinkClick r:id="rId4"/>
              </a:rPr>
              <a:t>FDA SIA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89720" y="6428232"/>
            <a:ext cx="2514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8098"/>
                </a:solidFill>
                <a:latin typeface="Aptos"/>
              </a:defRPr>
            </a:pPr>
            <a:r>
              <a:t>Section 7 | Caveats and Roadmap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2C59"/>
                </a:solidFill>
                <a:latin typeface="Aptos Display"/>
              </a:defRPr>
            </a:pPr>
            <a:r>
              <a:t>How We Used AI Tools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55648"/>
            <a:ext cx="265176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5440680" cy="434340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938528"/>
            <a:ext cx="5166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133A66"/>
                </a:solidFill>
                <a:latin typeface="Aptos"/>
              </a:defRPr>
            </a:pPr>
            <a:r>
              <a:t>Where AI tools helped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1" y="2267712"/>
            <a:ext cx="5184648" cy="3813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Ideation and scope refinement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Implementation acceleration and debugging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Documentation and memo drafting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Slide polishing and presentation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828800"/>
            <a:ext cx="5440680" cy="434340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938528"/>
            <a:ext cx="5166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133A66"/>
                </a:solidFill>
                <a:latin typeface="Aptos"/>
              </a:defRPr>
            </a:pPr>
            <a:r>
              <a:t>Human responsibility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2267712"/>
            <a:ext cx="5184648" cy="3813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Problem framing and business assumptions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Model choice, validation, and guardrail design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Result interpretation and recommendation decisions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Final accountability stayed with the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28232"/>
            <a:ext cx="85039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6E8098"/>
                </a:solidFill>
                <a:latin typeface="Aptos"/>
              </a:rPr>
              <a:t>Sources: </a:t>
            </a:r>
            <a:r>
              <a:rPr sz="850">
                <a:solidFill>
                  <a:srgbClr val="6E8098"/>
                </a:solidFill>
                <a:latin typeface="Aptos"/>
              </a:rPr>
              <a:t>Project commits/artifacts (internal)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 u="sng">
                <a:solidFill>
                  <a:srgbClr val="1A7DBC"/>
                </a:solidFill>
                <a:latin typeface="Aptos"/>
                <a:hlinkClick r:id="rId2"/>
              </a:rPr>
              <a:t>OpenAI platform docs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89720" y="6428232"/>
            <a:ext cx="2514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8098"/>
                </a:solidFill>
                <a:latin typeface="Aptos"/>
              </a:defRPr>
            </a:pPr>
            <a:r>
              <a:t>Section 8 | AI Tooling Disclosure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2C59"/>
                </a:solidFill>
                <a:latin typeface="Aptos Display"/>
              </a:defRPr>
            </a:pPr>
            <a:r>
              <a:t>Conclusion, References, and Q&amp;A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55648"/>
            <a:ext cx="265176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1828800"/>
            <a:ext cx="109728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Conclusion: AI-MCN can reduce manual MCN dependence and improve influencer decision quality.</a:t>
            </a:r>
          </a:p>
          <a:p>
            <a:pPr>
              <a:spcAft>
                <a:spcPts val="8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EMARKETER (Mar 13, 2025): US influencer spend and YouTube marketer adoption</a:t>
            </a:r>
          </a:p>
          <a:p>
            <a:pPr>
              <a:spcAft>
                <a:spcPts val="8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NIQ (Feb 25, 2025): beauty growth and e-commerce/social commerce indicators</a:t>
            </a:r>
          </a:p>
          <a:p>
            <a:pPr>
              <a:spcAft>
                <a:spcPts val="8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McKinsey (Aug 28, 2025): beauty market outlook to 2030</a:t>
            </a:r>
          </a:p>
          <a:p>
            <a:pPr>
              <a:spcAft>
                <a:spcPts val="8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Fashionista (Nov 13, 2024): BOJ virality and U.S. market context</a:t>
            </a:r>
          </a:p>
          <a:p>
            <a:pPr>
              <a:spcAft>
                <a:spcPts val="8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Technical refs: YouTube API, scikit-learn, LightGBM, SHAP, Streamlit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534924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105696"/>
                </a:solidFill>
                <a:latin typeface="Aptos Display"/>
              </a:defRPr>
            </a:pPr>
            <a:r>
              <a:t>Thank you. 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28232"/>
            <a:ext cx="85039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6E8098"/>
                </a:solidFill>
                <a:latin typeface="Aptos"/>
              </a:rPr>
              <a:t>Sources: </a:t>
            </a:r>
            <a:r>
              <a:rPr sz="850" u="sng">
                <a:solidFill>
                  <a:srgbClr val="1A7DBC"/>
                </a:solidFill>
                <a:latin typeface="Aptos"/>
                <a:hlinkClick r:id="rId2"/>
              </a:rPr>
              <a:t>EMARKETER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 u="sng">
                <a:solidFill>
                  <a:srgbClr val="1A7DBC"/>
                </a:solidFill>
                <a:latin typeface="Aptos"/>
                <a:hlinkClick r:id="rId3"/>
              </a:rPr>
              <a:t>NIQ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 u="sng">
                <a:solidFill>
                  <a:srgbClr val="1A7DBC"/>
                </a:solidFill>
                <a:latin typeface="Aptos"/>
                <a:hlinkClick r:id="rId4"/>
              </a:rPr>
              <a:t>McKinsey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89720" y="6428232"/>
            <a:ext cx="2514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8098"/>
                </a:solidFill>
                <a:latin typeface="Aptos"/>
              </a:defRPr>
            </a:pPr>
            <a:r>
              <a:t>AI-MCN | MSIS 521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2C59"/>
                </a:solidFill>
                <a:latin typeface="Aptos Display"/>
              </a:defRPr>
            </a:pPr>
            <a:r>
              <a:t>Backup: Model Performance Snapshot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55648"/>
            <a:ext cx="265176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odel_benchmark_rm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28800"/>
            <a:ext cx="8412480" cy="43891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269480" y="1828800"/>
            <a:ext cx="4114800" cy="438912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52360" y="1938528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133A66"/>
                </a:solidFill>
                <a:latin typeface="Aptos"/>
              </a:defRPr>
            </a:pPr>
            <a:r>
              <a:t>BOJ Full-Run Metrics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34072" y="2267712"/>
            <a:ext cx="3858768" cy="3858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Best model: LightGBM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Best RMSE: 0.00996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Baseline RMSE: 0.03800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Relative RMSE reduction: 73.8%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Best model selected by 5-fold GroupKFold RMSE.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BaselineMedian retained as reference in output 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28232"/>
            <a:ext cx="85039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6E8098"/>
                </a:solidFill>
                <a:latin typeface="Aptos"/>
              </a:rPr>
              <a:t>Sources: </a:t>
            </a:r>
            <a:r>
              <a:rPr sz="850">
                <a:solidFill>
                  <a:srgbClr val="6E8098"/>
                </a:solidFill>
                <a:latin typeface="Aptos"/>
              </a:rPr>
              <a:t>ml_cv_results.csv (internal)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>
                <a:solidFill>
                  <a:srgbClr val="6E8098"/>
                </a:solidFill>
                <a:latin typeface="Aptos"/>
              </a:rPr>
              <a:t>presentation_summary_boj.json (internal)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 u="sng">
                <a:solidFill>
                  <a:srgbClr val="1A7DBC"/>
                </a:solidFill>
                <a:latin typeface="Aptos"/>
                <a:hlinkClick r:id="rId3"/>
              </a:rPr>
              <a:t>GroupKFold docs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89720" y="6428232"/>
            <a:ext cx="2514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8098"/>
                </a:solidFill>
                <a:latin typeface="Aptos"/>
              </a:defRPr>
            </a:pPr>
            <a:r>
              <a:t>Backup 16 | Model Results Detail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2C59"/>
                </a:solidFill>
                <a:latin typeface="Aptos Display"/>
              </a:defRPr>
            </a:pPr>
            <a:r>
              <a:t>Backup: Top-Match Recommendation Anatomy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55648"/>
            <a:ext cx="265176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21792" y="1828800"/>
            <a:ext cx="5440680" cy="448056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938528"/>
            <a:ext cx="5166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133A66"/>
                </a:solidFill>
                <a:latin typeface="Aptos"/>
              </a:defRPr>
            </a:pPr>
            <a:r>
              <a:t>What Each Recommendation Card Includes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2267712"/>
            <a:ext cx="5184648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Final Match Score (current ranking score in the tab)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Signal breakdown: SNA, TF-IDF, Semantic, Tone, Engagement, ML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Score controls: Base score, reliability multiplier, community id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Evidence label (High/Medium/Low) and fit label (Very Strong to Exploratory)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Channel snapshot, keyword summary, best/recent videos, recent comments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Red flags and rationale text for reviewer transparency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828800"/>
            <a:ext cx="5440680" cy="448056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27648" y="1938528"/>
            <a:ext cx="5166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133A66"/>
                </a:solidFill>
                <a:latin typeface="Aptos"/>
              </a:defRPr>
            </a:pPr>
            <a:r>
              <a:t>How to Read It for Decision-Making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59" y="2267712"/>
            <a:ext cx="5184648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Start with Final Match Score and Evidence together.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Check reliability multiplier before trusting high base scores.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Review red flags for exclusions, low semantic fit, low activity.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Use video/comment context to verify qualitative brand fit.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Compare component mix by objective (awareness vs conversion).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Use diversity settings to avoid over-concentrated shortlist.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28232"/>
            <a:ext cx="85039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6E8098"/>
                </a:solidFill>
                <a:latin typeface="Aptos"/>
              </a:rPr>
              <a:t>Sources: </a:t>
            </a:r>
            <a:r>
              <a:rPr sz="850">
                <a:solidFill>
                  <a:srgbClr val="6E8098"/>
                </a:solidFill>
                <a:latin typeface="Aptos"/>
              </a:rPr>
              <a:t>Top Matches tab code (app.py)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>
                <a:solidFill>
                  <a:srgbClr val="6E8098"/>
                </a:solidFill>
                <a:latin typeface="Aptos"/>
              </a:rPr>
              <a:t>channel_details.py (internal)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>
                <a:solidFill>
                  <a:srgbClr val="6E8098"/>
                </a:solidFill>
                <a:latin typeface="Aptos"/>
              </a:rPr>
              <a:t>ranking.py (internal)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89720" y="6428232"/>
            <a:ext cx="2514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8098"/>
                </a:solidFill>
                <a:latin typeface="Aptos"/>
              </a:defRPr>
            </a:pPr>
            <a:r>
              <a:t>Backup 17 | Recommendation Interpretation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2C59"/>
                </a:solidFill>
                <a:latin typeface="Aptos Display"/>
              </a:defRPr>
            </a:pPr>
            <a:r>
              <a:t>Backup: Network Studio Interpretation Guide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55648"/>
            <a:ext cx="265176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21792" y="1828800"/>
            <a:ext cx="5440680" cy="448056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938528"/>
            <a:ext cx="5166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133A66"/>
                </a:solidFill>
                <a:latin typeface="Aptos"/>
              </a:defRPr>
            </a:pPr>
            <a:r>
              <a:t>What the Network View Represents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2267712"/>
            <a:ext cx="5184648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Node = creator channel; edge = shared-tag relationship.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Edge weight = count of shared tags above threshold.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Node color = community cluster id.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Node size increases with final score in graph view.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Over-common tags are dropped to reduce graph noise.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Micro communities can be separated as community -1.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828800"/>
            <a:ext cx="5440680" cy="448056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27648" y="1938528"/>
            <a:ext cx="5166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133A66"/>
                </a:solidFill>
                <a:latin typeface="Aptos"/>
              </a:defRPr>
            </a:pPr>
            <a:r>
              <a:t>How Bias Diagnostics Are Used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59" y="2267712"/>
            <a:ext cx="5184648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Degree Top Overlap compares centrality-only vs hybrid ranking.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Lower overlap suggests reduced popularity-only bias.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Unique communities in Top-N reflects portfolio diversity.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Community distribution chart reveals concentration risk.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Min edge / node sliders help stress-test shortlist stability.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Use diagnostics before final outreach decisions.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28232"/>
            <a:ext cx="85039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6E8098"/>
                </a:solidFill>
                <a:latin typeface="Aptos"/>
              </a:rPr>
              <a:t>Sources: </a:t>
            </a:r>
            <a:r>
              <a:rPr sz="850">
                <a:solidFill>
                  <a:srgbClr val="6E8098"/>
                </a:solidFill>
                <a:latin typeface="Aptos"/>
              </a:rPr>
              <a:t>network_scoring.py (internal)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>
                <a:solidFill>
                  <a:srgbClr val="6E8098"/>
                </a:solidFill>
                <a:latin typeface="Aptos"/>
              </a:rPr>
              <a:t>orchestrator.py bias report (internal)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>
                <a:solidFill>
                  <a:srgbClr val="6E8098"/>
                </a:solidFill>
                <a:latin typeface="Aptos"/>
              </a:rPr>
              <a:t>Network Studio UI (app.py)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89720" y="6428232"/>
            <a:ext cx="2514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8098"/>
                </a:solidFill>
                <a:latin typeface="Aptos"/>
              </a:defRPr>
            </a:pPr>
            <a:r>
              <a:t>Backup 18 | Network Diagnostics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2C59"/>
                </a:solidFill>
                <a:latin typeface="Aptos Display"/>
              </a:defRPr>
            </a:pPr>
            <a:r>
              <a:t>Backup: Text Intelligence Interpretation Guide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55648"/>
            <a:ext cx="265176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21792" y="1828800"/>
            <a:ext cx="5440680" cy="448056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938528"/>
            <a:ext cx="5166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133A66"/>
                </a:solidFill>
                <a:latin typeface="Aptos"/>
              </a:defRPr>
            </a:pPr>
            <a:r>
              <a:t>Charts and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2267712"/>
            <a:ext cx="5184648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Text Match Map: X=TF-IDF, Y=Semantic, color=Evidence, size~views.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Top Terms: frequent words in top candidate text corpus.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Keyword Coverage: share of channels containing each tracked keyword.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Leaderboard: TF-IDF, Semantic, Tone, Final score side-by-side.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Campaign words from audience/USP/must-keywords shape query vector.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Exclude words can directly lower relevance scores.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828800"/>
            <a:ext cx="5440680" cy="448056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27648" y="1938528"/>
            <a:ext cx="5166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133A66"/>
                </a:solidFill>
                <a:latin typeface="Aptos"/>
              </a:defRPr>
            </a:pPr>
            <a:r>
              <a:t>How to Use in Client Reviews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59" y="2267712"/>
            <a:ext cx="5184648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Upper-right map region = strongest language + meaning fit.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High TF-IDF but low semantic means superficial keyword overlap.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Low must-keyword coverage indicates query or data-gap issue.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Term chart validates whether shortlist matches campaign language.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Use with Top-Match evidence labels for safer final picks.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Document rationale from this tab in client memo.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28232"/>
            <a:ext cx="85039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6E8098"/>
                </a:solidFill>
                <a:latin typeface="Aptos"/>
              </a:rPr>
              <a:t>Sources: </a:t>
            </a:r>
            <a:r>
              <a:rPr sz="850">
                <a:solidFill>
                  <a:srgbClr val="6E8098"/>
                </a:solidFill>
                <a:latin typeface="Aptos"/>
              </a:rPr>
              <a:t>text_scoring.py (internal)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>
                <a:solidFill>
                  <a:srgbClr val="6E8098"/>
                </a:solidFill>
                <a:latin typeface="Aptos"/>
              </a:rPr>
              <a:t>semantic_enrichment.py (internal)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>
                <a:solidFill>
                  <a:srgbClr val="6E8098"/>
                </a:solidFill>
                <a:latin typeface="Aptos"/>
              </a:rPr>
              <a:t>Text Intelligence UI (app.py)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89720" y="6428232"/>
            <a:ext cx="2514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8098"/>
                </a:solidFill>
                <a:latin typeface="Aptos"/>
              </a:defRPr>
            </a:pPr>
            <a:r>
              <a:t>Backup 19 | Text Diagnostics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2C59"/>
                </a:solidFill>
                <a:latin typeface="Aptos Display"/>
              </a:defRPr>
            </a:pPr>
            <a:r>
              <a:t>Backup: ROI Lab Interpretation Guide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55648"/>
            <a:ext cx="265176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21792" y="1828800"/>
            <a:ext cx="5440680" cy="448056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938528"/>
            <a:ext cx="5166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133A66"/>
                </a:solidFill>
                <a:latin typeface="Aptos"/>
              </a:defRPr>
            </a:pPr>
            <a:r>
              <a:t>ROI Simulator Mechanics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2267712"/>
            <a:ext cx="5184648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Inputs: Budget, CPM, CTR, CVR, AOV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Impressions = (Budget / CPM) * 1000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Clicks = Impressions * CTR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Conversions = Clicks * CVR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Revenue = Conversions * AOV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ROAS = Revenue / Budget (plus low/high range)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828800"/>
            <a:ext cx="5440680" cy="448056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27648" y="1938528"/>
            <a:ext cx="5166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133A66"/>
                </a:solidFill>
                <a:latin typeface="Aptos"/>
              </a:defRPr>
            </a:pPr>
            <a:r>
              <a:t>Business Use and Caveats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59" y="2267712"/>
            <a:ext cx="5184648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Use for scenario planning, not causal proof.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Budget-sensitivity chart shows efficiency vs scale tradeoff.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Useful for pre-campaign expectation setting with finance teams.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Can compare assumptions across shortlist compositions.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Actual performance still depends on creative and execution quality.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Should be recalibrated with real campaign outcomes.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28232"/>
            <a:ext cx="85039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6E8098"/>
                </a:solidFill>
                <a:latin typeface="Aptos"/>
              </a:rPr>
              <a:t>Sources: </a:t>
            </a:r>
            <a:r>
              <a:rPr sz="850">
                <a:solidFill>
                  <a:srgbClr val="6E8098"/>
                </a:solidFill>
                <a:latin typeface="Aptos"/>
              </a:rPr>
              <a:t>roi_simulation.py (internal)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>
                <a:solidFill>
                  <a:srgbClr val="6E8098"/>
                </a:solidFill>
                <a:latin typeface="Aptos"/>
              </a:rPr>
              <a:t>ROI tab UI (app.py)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 u="sng">
                <a:solidFill>
                  <a:srgbClr val="1A7DBC"/>
                </a:solidFill>
                <a:latin typeface="Aptos"/>
                <a:hlinkClick r:id="rId2"/>
              </a:rPr>
              <a:t>IAB creator spend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89720" y="6428232"/>
            <a:ext cx="2514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8098"/>
                </a:solidFill>
                <a:latin typeface="Aptos"/>
              </a:defRPr>
            </a:pPr>
            <a:r>
              <a:t>Backup 20 | ROI Interpretation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2C59"/>
                </a:solidFill>
                <a:latin typeface="Aptos Display"/>
              </a:defRPr>
            </a:pPr>
            <a:r>
              <a:t>Backup: Business Impact Detail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55648"/>
            <a:ext cx="265176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21792" y="1828800"/>
            <a:ext cx="5440680" cy="448056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938528"/>
            <a:ext cx="5166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133A66"/>
                </a:solidFill>
                <a:latin typeface="Aptos"/>
              </a:defRPr>
            </a:pPr>
            <a:r>
              <a:t>Expected Impact for Brand Teams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2267712"/>
            <a:ext cx="5184648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Shortens creator research-to-shortlist cycle.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Converts opaque creator selection into transparent scorecards.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Adds reliability penalties to reduce false-positive picks.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Supports benchmark-based discussions with stakeholders.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Enables repeatable weekly operating rhythm.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Improves auditability for campaign post-mortems.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828800"/>
            <a:ext cx="5440680" cy="448056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27648" y="1938528"/>
            <a:ext cx="5166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133A66"/>
                </a:solidFill>
                <a:latin typeface="Aptos"/>
              </a:defRPr>
            </a:pPr>
            <a:r>
              <a:t>Why the Timing Is Urgent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59" y="2267712"/>
            <a:ext cx="5184648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Creator budget scale is increasing rapidly.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Teams still report time and ROI measurement friction.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Beauty category adds extra pressure via high social influence.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Higher CAC increases cost of poor creator matching.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Brands need decision systems, not one-off creator lists.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AI-MCN framing reduces dependency on opaque intermediaries.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28232"/>
            <a:ext cx="85039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6E8098"/>
                </a:solidFill>
                <a:latin typeface="Aptos"/>
              </a:rPr>
              <a:t>Sources: </a:t>
            </a:r>
            <a:r>
              <a:rPr sz="850" u="sng">
                <a:solidFill>
                  <a:srgbClr val="1A7DBC"/>
                </a:solidFill>
                <a:latin typeface="Aptos"/>
                <a:hlinkClick r:id="rId2"/>
              </a:rPr>
              <a:t>IAB Creator Economy 2025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 u="sng">
                <a:solidFill>
                  <a:srgbClr val="1A7DBC"/>
                </a:solidFill>
                <a:latin typeface="Aptos"/>
                <a:hlinkClick r:id="rId3"/>
              </a:rPr>
              <a:t>EMARKETER 2025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 u="sng">
                <a:solidFill>
                  <a:srgbClr val="1A7DBC"/>
                </a:solidFill>
                <a:latin typeface="Aptos"/>
                <a:hlinkClick r:id="rId4"/>
              </a:rPr>
              <a:t>Sprout workload findings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89720" y="6428232"/>
            <a:ext cx="2514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8098"/>
                </a:solidFill>
                <a:latin typeface="Aptos"/>
              </a:defRPr>
            </a:pPr>
            <a:r>
              <a:t>Backup 21 | Impact Detail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2C59"/>
                </a:solidFill>
                <a:latin typeface="Aptos Display"/>
              </a:defRPr>
            </a:pPr>
            <a:r>
              <a:t>Backup: Limitations and Governance Detail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55648"/>
            <a:ext cx="265176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21792" y="1828800"/>
            <a:ext cx="5440680" cy="448056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938528"/>
            <a:ext cx="5166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133A66"/>
                </a:solidFill>
                <a:latin typeface="Aptos"/>
              </a:defRPr>
            </a:pPr>
            <a:r>
              <a:t>Current Technical Constraints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2267712"/>
            <a:ext cx="5184648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Dataset is pre-collected, not full live multi-platform ingestion.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Coverage depends on available YouTube data and keyword filters.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ROI output is assumption-based simulation.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Semantic enrichment quality depends on text richness.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Community structure may still be concentrated in sub-niches.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Cloud demo mode can use reduced snapshot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828800"/>
            <a:ext cx="5440680" cy="448056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27648" y="1938528"/>
            <a:ext cx="5166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133A66"/>
                </a:solidFill>
                <a:latin typeface="Aptos"/>
              </a:defRPr>
            </a:pPr>
            <a:r>
              <a:t>Governance and Compliance Controls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59" y="2267712"/>
            <a:ext cx="5184648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FTC disclosure and endorsement compliance must be enforced.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Claim safety checks needed for product-specific messaging.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Brand safety workflow should include human reviewer checkpoints.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Bias checks should be monitored as data evolves.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Recommendation logs should be retained for auditability.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Legal/marketing sign-off needed before launch decisions.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28232"/>
            <a:ext cx="85039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6E8098"/>
                </a:solidFill>
                <a:latin typeface="Aptos"/>
              </a:rPr>
              <a:t>Sources: </a:t>
            </a:r>
            <a:r>
              <a:rPr sz="850" u="sng">
                <a:solidFill>
                  <a:srgbClr val="1A7DBC"/>
                </a:solidFill>
                <a:latin typeface="Aptos"/>
                <a:hlinkClick r:id="rId2"/>
              </a:rPr>
              <a:t>FTC Influencers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 u="sng">
                <a:solidFill>
                  <a:srgbClr val="1A7DBC"/>
                </a:solidFill>
                <a:latin typeface="Aptos"/>
                <a:hlinkClick r:id="rId3"/>
              </a:rPr>
              <a:t>FTC Endorsement Guides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 u="sng">
                <a:solidFill>
                  <a:srgbClr val="1A7DBC"/>
                </a:solidFill>
                <a:latin typeface="Aptos"/>
                <a:hlinkClick r:id="rId4"/>
              </a:rPr>
              <a:t>FDA SIA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89720" y="6428232"/>
            <a:ext cx="2514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8098"/>
                </a:solidFill>
                <a:latin typeface="Aptos"/>
              </a:defRPr>
            </a:pPr>
            <a:r>
              <a:t>Backup 22 | Limitations &amp; Compliance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2C59"/>
                </a:solidFill>
                <a:latin typeface="Aptos Display"/>
              </a:defRPr>
            </a:pPr>
            <a:r>
              <a:t>Backup: 90-Day Operational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55648"/>
            <a:ext cx="265176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21792" y="1828800"/>
            <a:ext cx="5440680" cy="448056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938528"/>
            <a:ext cx="5166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133A66"/>
                </a:solidFill>
                <a:latin typeface="Aptos"/>
              </a:defRPr>
            </a:pPr>
            <a:r>
              <a:t>Phase 1 (0-30 Days)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2267712"/>
            <a:ext cx="5184648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Lock weekly pipeline schedule and dashboard review cadence.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Define reviewer checklist for low-evidence channels.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Standardize export package for brand decision meetings.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Set benchmark brands by category for context comparison.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Track turnaround time and reviewer agreement metrics.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828800"/>
            <a:ext cx="5440680" cy="448056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27648" y="1938528"/>
            <a:ext cx="5166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133A66"/>
                </a:solidFill>
                <a:latin typeface="Aptos"/>
              </a:defRPr>
            </a:pPr>
            <a:r>
              <a:t>Phase 2-3 (31-90 Days)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59" y="2267712"/>
            <a:ext cx="5184648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Add live connectors and larger benchmark panel coverage.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Run pilot with real outreach and campaign outcomes.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Compare predicted vs realized metrics and recalibrate model.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Add fairness constraints and stronger monitoring alerts.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Finalize operating playbook for in-house AI-MCN workflow.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28232"/>
            <a:ext cx="85039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6E8098"/>
                </a:solidFill>
                <a:latin typeface="Aptos"/>
              </a:rPr>
              <a:t>Sources: </a:t>
            </a:r>
            <a:r>
              <a:rPr sz="850">
                <a:solidFill>
                  <a:srgbClr val="6E8098"/>
                </a:solidFill>
                <a:latin typeface="Aptos"/>
              </a:rPr>
              <a:t>orchestrator.py (internal)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>
                <a:solidFill>
                  <a:srgbClr val="6E8098"/>
                </a:solidFill>
                <a:latin typeface="Aptos"/>
              </a:rPr>
              <a:t>app.py workflow (internal)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>
                <a:solidFill>
                  <a:srgbClr val="6E8098"/>
                </a:solidFill>
                <a:latin typeface="Aptos"/>
              </a:rPr>
              <a:t>AI_MCN_Analysis_Explainer_EN.md (internal)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89720" y="6428232"/>
            <a:ext cx="2514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8098"/>
                </a:solidFill>
                <a:latin typeface="Aptos"/>
              </a:defRPr>
            </a:pPr>
            <a:r>
              <a:t>Backup 23 | Roadmap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2C59"/>
                </a:solidFill>
                <a:latin typeface="Aptos Display"/>
              </a:defRPr>
            </a:pPr>
            <a:r>
              <a:t>Backup: AI Tool Usage Detail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55648"/>
            <a:ext cx="265176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21792" y="1828800"/>
            <a:ext cx="5440680" cy="448056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938528"/>
            <a:ext cx="5166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133A66"/>
                </a:solidFill>
                <a:latin typeface="Aptos"/>
              </a:defRPr>
            </a:pPr>
            <a:r>
              <a:t>Where AI Tools Accelerated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2267712"/>
            <a:ext cx="5184648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Research synthesis and structuring references for slides.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Implementation support across data, ML, and UI modules.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Debugging support for pipeline/runtime issues.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Documentation drafting and bilingual explainer production.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Presentation refinement and narrative iteration.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828800"/>
            <a:ext cx="5440680" cy="448056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27648" y="1938528"/>
            <a:ext cx="5166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133A66"/>
                </a:solidFill>
                <a:latin typeface="Aptos"/>
              </a:defRPr>
            </a:pPr>
            <a:r>
              <a:t>Human-Owned Responsibilities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59" y="2267712"/>
            <a:ext cx="5184648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Client problem framing and objective definition.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Method selection and validation logic design.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Quality control on model outputs and interpretation.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Risk/compliance framing and stakeholder communication.</a:t>
            </a:r>
          </a:p>
          <a:p>
            <a:pPr>
              <a:spcAft>
                <a:spcPts val="800"/>
              </a:spcAft>
              <a:defRPr sz="1300">
                <a:solidFill>
                  <a:srgbClr val="1C2D46"/>
                </a:solidFill>
                <a:latin typeface="Aptos"/>
              </a:defRPr>
            </a:pPr>
            <a:r>
              <a:t>Final recommendation accountability remained with team.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28232"/>
            <a:ext cx="85039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6E8098"/>
                </a:solidFill>
                <a:latin typeface="Aptos"/>
              </a:rPr>
              <a:t>Sources: </a:t>
            </a:r>
            <a:r>
              <a:rPr sz="850" u="sng">
                <a:solidFill>
                  <a:srgbClr val="1A7DBC"/>
                </a:solidFill>
                <a:latin typeface="Aptos"/>
                <a:hlinkClick r:id="rId2"/>
              </a:rPr>
              <a:t>OpenAI docs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>
                <a:solidFill>
                  <a:srgbClr val="6E8098"/>
                </a:solidFill>
                <a:latin typeface="Aptos"/>
              </a:rPr>
              <a:t>Internal repo artifacts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89720" y="6428232"/>
            <a:ext cx="2514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8098"/>
                </a:solidFill>
                <a:latin typeface="Aptos"/>
              </a:defRPr>
            </a:pPr>
            <a:r>
              <a:t>Backup 24 | AI Tooling Detail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2C59"/>
                </a:solidFill>
                <a:latin typeface="Aptos Display"/>
              </a:defRPr>
            </a:pPr>
            <a:r>
              <a:t>Backup: Research Library for Team Follow-up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55648"/>
            <a:ext cx="265176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182880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Market spend: EMARKETER (Mar 13, 2025), IAB (Nov 20, 2025), Goldman Sachs creator economy outlook.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Operational pain: Sprout Social workload findings; Linqia 2023/2026 benchmark reports.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Beauty context: NIQ global beauty growth + K-beauty landscape; McKinsey 2025 beauty outlook.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Client context: BOJ official campaign pages + public U.S. strategy coverage.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Governance: FTC influencer disclosures/endorsement guides, YouTube MCN documentation, FDA sunscreen policy context.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All links are included in slide markdown and sources footer for teammate reading.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28232"/>
            <a:ext cx="85039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6E8098"/>
                </a:solidFill>
                <a:latin typeface="Aptos"/>
              </a:rPr>
              <a:t>Sources: </a:t>
            </a:r>
            <a:r>
              <a:rPr sz="850" u="sng">
                <a:solidFill>
                  <a:srgbClr val="1A7DBC"/>
                </a:solidFill>
                <a:latin typeface="Aptos"/>
                <a:hlinkClick r:id="rId2"/>
              </a:rPr>
              <a:t>EMARKETER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 u="sng">
                <a:solidFill>
                  <a:srgbClr val="1A7DBC"/>
                </a:solidFill>
                <a:latin typeface="Aptos"/>
                <a:hlinkClick r:id="rId3"/>
              </a:rPr>
              <a:t>IAB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 u="sng">
                <a:solidFill>
                  <a:srgbClr val="1A7DBC"/>
                </a:solidFill>
                <a:latin typeface="Aptos"/>
                <a:hlinkClick r:id="rId4"/>
              </a:rPr>
              <a:t>NIQ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 u="sng">
                <a:solidFill>
                  <a:srgbClr val="1A7DBC"/>
                </a:solidFill>
                <a:latin typeface="Aptos"/>
                <a:hlinkClick r:id="rId5"/>
              </a:rPr>
              <a:t>McKinsey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89720" y="6428232"/>
            <a:ext cx="2514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8098"/>
                </a:solidFill>
                <a:latin typeface="Aptos"/>
              </a:defRPr>
            </a:pPr>
            <a:r>
              <a:t>Backup 25 | References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